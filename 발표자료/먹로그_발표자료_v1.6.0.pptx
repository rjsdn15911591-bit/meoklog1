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505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559113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152000"/>
            <a:ext cx="5760000" cy="126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6000" b="0" i="0">
                <a:solidFill>
                  <a:srgbClr val="5058f0"/>
                </a:solidFill>
                <a:latin typeface="케리스 케듀체 Line"/>
                <a:ea typeface="케리스 케듀체 Line"/>
              </a:rPr>
              <a:t>먹로그</a:t>
            </a:r>
            <a:endParaRPr sz="6000" b="0" i="0">
              <a:solidFill>
                <a:srgbClr val="5058f0"/>
              </a:solidFill>
              <a:latin typeface="케리스 케듀체 Line"/>
              <a:ea typeface="케리스 케듀체 Lin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2000" y="2448000"/>
            <a:ext cx="6480000" cy="43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200" b="1" i="1">
                <a:solidFill>
                  <a:srgbClr val="6a6a6a"/>
                </a:solidFill>
                <a:latin typeface="케리스 케듀체 R"/>
              </a:rPr>
              <a:t>M</a:t>
            </a:r>
            <a:r>
              <a:rPr lang="en-US" altLang="ko-KR" sz="2200" b="1" i="1">
                <a:solidFill>
                  <a:srgbClr val="6a6a6a"/>
                </a:solidFill>
                <a:latin typeface="케리스 케듀체 R"/>
              </a:rPr>
              <a:t>uk</a:t>
            </a:r>
            <a:r>
              <a:rPr sz="2200" b="1" i="1">
                <a:solidFill>
                  <a:srgbClr val="6a6a6a"/>
                </a:solidFill>
                <a:latin typeface="케리스 케듀체 R"/>
              </a:rPr>
              <a:t>Log</a:t>
            </a:r>
            <a:endParaRPr sz="2200" b="1" i="1">
              <a:solidFill>
                <a:srgbClr val="6a6a6a"/>
              </a:solidFill>
              <a:latin typeface="케리스 케듀체 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2000" y="3024000"/>
            <a:ext cx="6480000" cy="53585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50000"/>
              </a:lnSpc>
              <a:defRPr/>
            </a:pPr>
            <a:r>
              <a:rPr sz="1900" b="0" i="0" spc="100">
                <a:solidFill>
                  <a:srgbClr val="1a1a1a"/>
                </a:solidFill>
                <a:latin typeface="케리스 케듀체 B"/>
                <a:ea typeface="케리스 케듀체 B"/>
              </a:rPr>
              <a:t>AI 기반 그룹형 식단 관리 웹 앱</a:t>
            </a:r>
            <a:endParaRPr sz="1900" b="0" i="0">
              <a:solidFill>
                <a:srgbClr val="1a1a1a"/>
              </a:solidFill>
              <a:latin typeface="케리스 케듀체 B"/>
            </a:endParaRPr>
          </a:p>
          <a:p>
            <a:pPr lvl="0" algn="l">
              <a:lnSpc>
                <a:spcPct val="150000"/>
              </a:lnSpc>
              <a:spcBef>
                <a:spcPts val="400"/>
              </a:spcBef>
              <a:defRPr/>
            </a:pPr>
            <a:r>
              <a:rPr sz="1300" b="0" i="0" spc="100">
                <a:solidFill>
                  <a:srgbClr val="6a6a6a"/>
                </a:solidFill>
                <a:latin typeface="케리스 케듀체 R"/>
                <a:ea typeface="케리스 케듀체 R"/>
              </a:rPr>
              <a:t>사진 한 장으로 칼로리·영양소 자동 분석, 친구와 함께 식단 비교</a:t>
            </a:r>
            <a:endParaRPr sz="1300" b="0" i="0" spc="100">
              <a:solidFill>
                <a:srgbClr val="6a6a6a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2000" y="4031999"/>
            <a:ext cx="5040000" cy="288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4176000"/>
            <a:ext cx="5760000" cy="108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300" b="0" i="0">
                <a:solidFill>
                  <a:srgbClr val="3a3a3a"/>
                </a:solidFill>
                <a:latin typeface="나눔명조"/>
              </a:rPr>
              <a:t>과목  :  AI와 머신러닝</a:t>
            </a:r>
            <a:endParaRPr sz="1300" b="0" i="0">
              <a:solidFill>
                <a:srgbClr val="3a3a3a"/>
              </a:solidFill>
              <a:latin typeface="나눔명조"/>
            </a:endParaRPr>
          </a:p>
          <a:p>
            <a:pPr lvl="0" algn="l">
              <a:spcBef>
                <a:spcPts val="300"/>
              </a:spcBef>
              <a:defRPr/>
            </a:pPr>
            <a:r>
              <a:rPr sz="1300" b="0" i="0">
                <a:solidFill>
                  <a:srgbClr val="3a3a3a"/>
                </a:solidFill>
                <a:latin typeface="나눔명조"/>
              </a:rPr>
              <a:t>발표일 :  2026년 6월 22일</a:t>
            </a:r>
            <a:endParaRPr sz="1300" b="0" i="0">
              <a:solidFill>
                <a:srgbClr val="3a3a3a"/>
              </a:solidFill>
              <a:latin typeface="나눔명조"/>
            </a:endParaRPr>
          </a:p>
          <a:p>
            <a:pPr lvl="0" algn="l">
              <a:spcBef>
                <a:spcPts val="300"/>
              </a:spcBef>
              <a:defRPr/>
            </a:pPr>
            <a:r>
              <a:rPr sz="1300" b="0" i="0">
                <a:solidFill>
                  <a:srgbClr val="3a3a3a"/>
                </a:solidFill>
                <a:latin typeface="나눔명조"/>
              </a:rPr>
              <a:t>팀명  :  먹로그</a:t>
            </a:r>
            <a:endParaRPr sz="1300" b="0" i="0">
              <a:solidFill>
                <a:srgbClr val="3a3a3a"/>
              </a:solidFill>
              <a:latin typeface="나눔명조"/>
            </a:endParaRPr>
          </a:p>
          <a:p>
            <a:pPr lvl="0" algn="l">
              <a:spcBef>
                <a:spcPts val="300"/>
              </a:spcBef>
              <a:defRPr/>
            </a:pPr>
            <a:r>
              <a:rPr sz="1300" b="0" i="0">
                <a:solidFill>
                  <a:srgbClr val="3a3a3a"/>
                </a:solidFill>
                <a:latin typeface="나눔명조"/>
              </a:rPr>
              <a:t>팀원  :  25학번 이건우  ·  23학번 윤서영</a:t>
            </a:r>
            <a:endParaRPr sz="1300" b="0" i="0">
              <a:solidFill>
                <a:srgbClr val="3a3a3a"/>
              </a:solidFill>
              <a:latin typeface="나눔명조"/>
            </a:endParaRPr>
          </a:p>
        </p:txBody>
      </p:sp>
      <p:pic>
        <p:nvPicPr>
          <p:cNvPr id="8" name="Picture 7" descr="KakaoTalk_20260620_204355294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000" y="1620000"/>
            <a:ext cx="3060000" cy="30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20000" y="5940000"/>
            <a:ext cx="324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FFFFFF"/>
                </a:solidFill>
                <a:latin typeface="NanumMyeongjo"/>
              </a:rPr>
              <a:t>v1.6.0  ·  Phase 1 + 2 완성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목차</a:t>
            </a:r>
            <a:endParaRPr sz="15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76000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발표 순서</a:t>
            </a:r>
            <a:endParaRPr sz="2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2  /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350000"/>
            <a:ext cx="576000" cy="61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1422000"/>
            <a:ext cx="5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KERIS KEDU 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8000" y="1350000"/>
            <a:ext cx="3060000" cy="61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20000"/>
              </a:lnSpc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프로젝트 개요</a:t>
            </a:r>
            <a:endParaRPr sz="16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"/>
                <a:ea typeface="나눔고딕"/>
              </a:rPr>
              <a:t>문제 정의와 먹로그의 핵심 가치</a:t>
            </a:r>
            <a:endParaRPr sz="12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8000" y="2016000"/>
            <a:ext cx="10896119" cy="1440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8000" y="2142000"/>
            <a:ext cx="576000" cy="612000"/>
          </a:xfrm>
          <a:prstGeom prst="rect">
            <a:avLst/>
          </a:prstGeom>
          <a:solidFill>
            <a:srgbClr val="C0C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2214000"/>
            <a:ext cx="5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KERIS KEDU 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8000" y="2142000"/>
            <a:ext cx="3060000" cy="61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20000"/>
              </a:lnSpc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AI 음식 분석 기술</a:t>
            </a:r>
            <a:endParaRPr sz="16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"/>
                <a:ea typeface="나눔고딕"/>
              </a:rPr>
              <a:t>GPT-4o Vision 3단계 추론 메커니즘</a:t>
            </a:r>
            <a:endParaRPr sz="12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8000" y="2808000"/>
            <a:ext cx="10896119" cy="1440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8000" y="2934000"/>
            <a:ext cx="576000" cy="612000"/>
          </a:xfrm>
          <a:prstGeom prst="rect">
            <a:avLst/>
          </a:prstGeom>
          <a:solidFill>
            <a:srgbClr val="7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" y="3006000"/>
            <a:ext cx="5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KERIS KEDU 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8000" y="2934000"/>
            <a:ext cx="3060000" cy="61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20000"/>
              </a:lnSpc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주요 기능</a:t>
            </a:r>
            <a:endParaRPr sz="16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"/>
                <a:ea typeface="나눔고딕"/>
              </a:rPr>
              <a:t>그룹 공유·비교, 개인 건강 관리</a:t>
            </a:r>
            <a:endParaRPr sz="12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8000" y="3600000"/>
            <a:ext cx="10896119" cy="1440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8000" y="3726000"/>
            <a:ext cx="576000" cy="6120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" y="3798000"/>
            <a:ext cx="5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KERIS KEDU 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8000" y="3726000"/>
            <a:ext cx="3060000" cy="61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20000"/>
              </a:lnSpc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프로그램 시연</a:t>
            </a:r>
            <a:endParaRPr sz="16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"/>
                <a:ea typeface="나눔고딕"/>
              </a:rPr>
              <a:t>직접 화면을 보며 기능 설명</a:t>
            </a:r>
            <a:endParaRPr sz="12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8000" y="4392000"/>
            <a:ext cx="10896119" cy="1440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8000" y="4518000"/>
            <a:ext cx="576000" cy="612000"/>
          </a:xfrm>
          <a:prstGeom prst="rect">
            <a:avLst/>
          </a:prstGeom>
          <a:solidFill>
            <a:srgbClr val="E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4590000"/>
            <a:ext cx="5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KERIS KEDU 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8000" y="4518000"/>
            <a:ext cx="3060000" cy="61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20000"/>
              </a:lnSpc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기술 아키텍처</a:t>
            </a:r>
            <a:endParaRPr sz="16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"/>
                <a:ea typeface="나눔고딕"/>
              </a:rPr>
              <a:t>Next.js · FastAPI · Supabase 구성</a:t>
            </a:r>
            <a:endParaRPr sz="12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8000" y="5184000"/>
            <a:ext cx="10896119" cy="1440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8000" y="5310000"/>
            <a:ext cx="576000" cy="61200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" y="5382000"/>
            <a:ext cx="57600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i="0">
                <a:solidFill>
                  <a:srgbClr val="FFFFFF"/>
                </a:solidFill>
                <a:latin typeface="KERIS KEDU 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8000" y="5310000"/>
            <a:ext cx="3060000" cy="61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20000"/>
              </a:lnSpc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개발 성과 &amp; 향후</a:t>
            </a:r>
            <a:endParaRPr sz="16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"/>
                <a:ea typeface="나눔고딕"/>
              </a:rPr>
              <a:t>Phase 완성 내역 + 스마트폰 앱 출시 계획</a:t>
            </a:r>
            <a:endParaRPr sz="12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4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01.  프로젝트 개요</a:t>
            </a:r>
            <a:endParaRPr sz="14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28375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왜 식단 기록이 어려운가?</a:t>
            </a:r>
            <a:endParaRPr sz="2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 ExtraBold"/>
                <a:ea typeface="나눔고딕 ExtraBold"/>
              </a:rPr>
              <a:t>기존 식단 앱의 한계와 먹로그의 탄생 배경</a:t>
            </a:r>
            <a:endParaRPr sz="1200" b="0" i="0">
              <a:solidFill>
                <a:srgbClr val="6a6a6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3  /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314000"/>
            <a:ext cx="5340059" cy="1188000"/>
          </a:xfrm>
          <a:prstGeom prst="rect">
            <a:avLst/>
          </a:prstGeom>
          <a:solidFill>
            <a:srgbClr val="E85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999" y="1386000"/>
            <a:ext cx="5160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6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❶  직접 입력의 번거로움</a:t>
            </a:r>
            <a:endParaRPr sz="16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3999" y="1733250"/>
            <a:ext cx="5160059" cy="792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400" b="0">
                <a:solidFill>
                  <a:srgbClr val="ffffff"/>
                </a:solidFill>
                <a:latin typeface="나눔고딕"/>
                <a:ea typeface="나눔고딕"/>
              </a:rPr>
              <a:t>음식명·칼로리를 일일이 검색해야 함</a:t>
            </a:r>
            <a:endParaRPr sz="14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defRPr/>
            </a:pPr>
            <a:r>
              <a:rPr sz="1400" b="0">
                <a:solidFill>
                  <a:srgbClr val="ffffff"/>
                </a:solidFill>
                <a:latin typeface="나눔고딕"/>
                <a:ea typeface="나눔고딕"/>
              </a:rPr>
              <a:t>하루 3끼 × 3~4가지 = 매일 10회 이상 입력</a:t>
            </a:r>
            <a:endParaRPr sz="14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04059" y="1314000"/>
            <a:ext cx="5340059" cy="1188000"/>
          </a:xfrm>
          <a:prstGeom prst="rect">
            <a:avLst/>
          </a:prstGeom>
          <a:solidFill>
            <a:srgbClr val="E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0058" y="1386000"/>
            <a:ext cx="5160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❷  정확도 문제</a:t>
            </a:r>
            <a:endParaRPr sz="16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30058" y="1733250"/>
            <a:ext cx="5160059" cy="792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400" b="0">
                <a:solidFill>
                  <a:srgbClr val="1a1a1a"/>
                </a:solidFill>
                <a:latin typeface="나눔고딕"/>
                <a:ea typeface="나눔고딕"/>
              </a:rPr>
              <a:t>조리법·양에 따라 DB 수치와 괴리 발생</a:t>
            </a:r>
            <a:endParaRPr sz="14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defRPr/>
            </a:pPr>
            <a:r>
              <a:rPr sz="1400" b="0">
                <a:solidFill>
                  <a:srgbClr val="1a1a1a"/>
                </a:solidFill>
                <a:latin typeface="나눔고딕"/>
                <a:ea typeface="나눔고딕"/>
              </a:rPr>
              <a:t>직접 측정 없이는 오차 20~40% 발생</a:t>
            </a:r>
            <a:endParaRPr sz="1400" b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8000" y="2610000"/>
            <a:ext cx="5340059" cy="1188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999" y="2682000"/>
            <a:ext cx="5160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6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❸  혼자만의 기록, 동기 부여 한계</a:t>
            </a:r>
            <a:endParaRPr sz="16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3999" y="3029250"/>
            <a:ext cx="5160059" cy="792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400" b="0">
                <a:solidFill>
                  <a:srgbClr val="ffffff"/>
                </a:solidFill>
                <a:latin typeface="나눔고딕"/>
                <a:ea typeface="나눔고딕"/>
              </a:rPr>
              <a:t>소셜 요소·경쟁 구조 없이 지속 어려움</a:t>
            </a:r>
            <a:endParaRPr sz="14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defRPr/>
            </a:pPr>
            <a:r>
              <a:rPr sz="1400" b="0">
                <a:solidFill>
                  <a:srgbClr val="ffffff"/>
                </a:solidFill>
                <a:latin typeface="나눔고딕"/>
                <a:ea typeface="나눔고딕"/>
              </a:rPr>
              <a:t>작심삼일로 끝나는 경우가 대부분</a:t>
            </a:r>
            <a:endParaRPr sz="14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04059" y="2610000"/>
            <a:ext cx="5340059" cy="1188000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0058" y="2682000"/>
            <a:ext cx="5160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❹  복잡한 UI · 높은 진입 장벽</a:t>
            </a:r>
            <a:endParaRPr sz="16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30058" y="3029250"/>
            <a:ext cx="5160059" cy="792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400" b="0">
                <a:solidFill>
                  <a:srgbClr val="1a1a1a"/>
                </a:solidFill>
                <a:latin typeface="나눔고딕"/>
                <a:ea typeface="나눔고딕"/>
              </a:rPr>
              <a:t>기존 앱은 기능이 많아 처음 쓰기 어려움</a:t>
            </a:r>
            <a:endParaRPr sz="14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defRPr/>
            </a:pPr>
            <a:r>
              <a:rPr sz="1400" b="0">
                <a:solidFill>
                  <a:srgbClr val="1a1a1a"/>
                </a:solidFill>
                <a:latin typeface="나눔고딕"/>
                <a:ea typeface="나눔고딕"/>
              </a:rPr>
              <a:t>온보딩 완료율 평균 30% 미만</a:t>
            </a:r>
            <a:endParaRPr sz="1400" b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8000" y="38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000" y="3978000"/>
            <a:ext cx="10896119" cy="43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5058f0"/>
                </a:solidFill>
                <a:latin typeface="케리스 케듀체 R"/>
                <a:ea typeface="케리스 케듀체 R"/>
              </a:rPr>
              <a:t>"사진 한 장 찍는 것만큼 쉬워야 한다"  —  먹로그의 출발점</a:t>
            </a:r>
            <a:endParaRPr sz="1500" b="0" i="0">
              <a:solidFill>
                <a:srgbClr val="5058f0"/>
              </a:solidFill>
              <a:latin typeface="케리스 케듀체 R"/>
              <a:ea typeface="케리스 케듀체 R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4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01.  프로젝트 개요</a:t>
            </a:r>
            <a:endParaRPr sz="14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28375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먹로그의 핵심 가치</a:t>
            </a:r>
            <a:endParaRPr sz="2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 ExtraBold"/>
                <a:ea typeface="나눔고딕 ExtraBold"/>
              </a:rPr>
              <a:t>네 가지 원칙으로 기존 앱의 한계를 극복</a:t>
            </a:r>
            <a:endParaRPr sz="1200" b="0" i="0">
              <a:solidFill>
                <a:srgbClr val="6a6a6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4  /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314000"/>
            <a:ext cx="5340059" cy="1134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999" y="1386000"/>
            <a:ext cx="5160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6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사진 한 장으로 끝</a:t>
            </a:r>
            <a:endParaRPr sz="16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3999" y="1666575"/>
            <a:ext cx="5160059" cy="738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300" b="0">
                <a:solidFill>
                  <a:srgbClr val="ffffff"/>
                </a:solidFill>
                <a:latin typeface="나눔명조"/>
                <a:ea typeface="나눔명조"/>
              </a:rPr>
              <a:t>직접 검색·입력 불필요. 카메라로 찍으면 AI가 메뉴·칼로리·탄단지를 자동 분석</a:t>
            </a:r>
            <a:endParaRPr sz="1300" b="0">
              <a:solidFill>
                <a:srgbClr val="ffffff"/>
              </a:solidFill>
              <a:latin typeface="나눔명조"/>
              <a:ea typeface="나눔명조"/>
            </a:endParaRPr>
          </a:p>
          <a:p>
            <a:pPr lvl="0">
              <a:defRPr/>
            </a:pPr>
            <a:r>
              <a:rPr sz="1200" b="1">
                <a:solidFill>
                  <a:srgbClr val="ffffff"/>
                </a:solidFill>
                <a:latin typeface="나눔명조"/>
                <a:ea typeface="나눔명조"/>
              </a:rPr>
              <a:t>→ 기록 시간 평균 2분 → 15초로 단축</a:t>
            </a:r>
            <a:endParaRPr sz="1200" b="1">
              <a:solidFill>
                <a:srgbClr val="ffffff"/>
              </a:solidFill>
              <a:latin typeface="나눔명조"/>
              <a:ea typeface="나눔명조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04059" y="1314000"/>
            <a:ext cx="5340059" cy="1134000"/>
          </a:xfrm>
          <a:prstGeom prst="rect">
            <a:avLst/>
          </a:prstGeom>
          <a:solidFill>
            <a:srgbClr val="7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0058" y="1386000"/>
            <a:ext cx="5160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6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AI 3단계 정밀 추론</a:t>
            </a:r>
            <a:endParaRPr sz="16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30058" y="1666575"/>
            <a:ext cx="5160059" cy="738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300" b="0">
                <a:solidFill>
                  <a:srgbClr val="ffffff"/>
                </a:solidFill>
                <a:latin typeface="나눔명조"/>
                <a:ea typeface="나눔명조"/>
              </a:rPr>
              <a:t>GPT-4o Vision이 크기 기준점 측정 → 밀도 결정 → 칼로리 계산 순으로 추론</a:t>
            </a:r>
            <a:endParaRPr sz="1300" b="0">
              <a:solidFill>
                <a:srgbClr val="ffffff"/>
              </a:solidFill>
              <a:latin typeface="나눔명조"/>
              <a:ea typeface="나눔명조"/>
            </a:endParaRPr>
          </a:p>
          <a:p>
            <a:pPr lvl="0">
              <a:defRPr/>
            </a:pPr>
            <a:r>
              <a:rPr sz="1200" b="1">
                <a:solidFill>
                  <a:srgbClr val="ffffff"/>
                </a:solidFill>
                <a:latin typeface="나눔명조"/>
                <a:ea typeface="나눔명조"/>
              </a:rPr>
              <a:t>→ 단순 인식이 아닌 물리적 계산 기반 추정</a:t>
            </a:r>
            <a:endParaRPr sz="1200" b="1">
              <a:solidFill>
                <a:srgbClr val="ffffff"/>
              </a:solidFill>
              <a:latin typeface="나눔명조"/>
              <a:ea typeface="나눔명조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8000" y="2573999"/>
            <a:ext cx="5340059" cy="11340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3999" y="2645999"/>
            <a:ext cx="5160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그룹 비교로 동기 부여</a:t>
            </a:r>
            <a:endParaRPr sz="16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3999" y="2926574"/>
            <a:ext cx="5160059" cy="738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300" b="0">
                <a:solidFill>
                  <a:srgbClr val="1a1a1a"/>
                </a:solidFill>
                <a:latin typeface="나눔명조"/>
                <a:ea typeface="나눔명조"/>
              </a:rPr>
              <a:t>친구·가족과 그룹을 만들어 하루 섭취량 실시간 비교, 이모티콘 반응·댓글</a:t>
            </a:r>
            <a:endParaRPr sz="1300" b="0">
              <a:solidFill>
                <a:srgbClr val="1a1a1a"/>
              </a:solidFill>
              <a:latin typeface="나눔명조"/>
              <a:ea typeface="나눔명조"/>
            </a:endParaRPr>
          </a:p>
          <a:p>
            <a:pPr lvl="0">
              <a:defRPr/>
            </a:pPr>
            <a:r>
              <a:rPr sz="1200" b="1">
                <a:solidFill>
                  <a:srgbClr val="1a1a1a"/>
                </a:solidFill>
                <a:latin typeface="나눔명조"/>
                <a:ea typeface="나눔명조"/>
              </a:rPr>
              <a:t>→ 소셜 피드 방식으로 꾸준한 기록 유지</a:t>
            </a:r>
            <a:endParaRPr sz="1200" b="1">
              <a:solidFill>
                <a:srgbClr val="1a1a1a"/>
              </a:solidFill>
              <a:latin typeface="나눔명조"/>
              <a:ea typeface="나눔명조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04059" y="2573999"/>
            <a:ext cx="5340059" cy="1134000"/>
          </a:xfrm>
          <a:prstGeom prst="rect">
            <a:avLst/>
          </a:prstGeom>
          <a:solidFill>
            <a:srgbClr val="E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0058" y="2645999"/>
            <a:ext cx="5160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6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개인 맞춤 목표</a:t>
            </a:r>
            <a:endParaRPr sz="16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30058" y="2926574"/>
            <a:ext cx="5160059" cy="738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300" b="0">
                <a:solidFill>
                  <a:srgbClr val="1a1a1a"/>
                </a:solidFill>
                <a:latin typeface="나눔명조"/>
                <a:ea typeface="나눔명조"/>
              </a:rPr>
              <a:t>키·체중·활동량·목표 입력 → Mifflin-St Jeor 공식으로 목표 칼로리 자동 계산</a:t>
            </a:r>
            <a:endParaRPr sz="1300" b="0">
              <a:solidFill>
                <a:srgbClr val="1a1a1a"/>
              </a:solidFill>
              <a:latin typeface="나눔명조"/>
              <a:ea typeface="나눔명조"/>
            </a:endParaRPr>
          </a:p>
          <a:p>
            <a:pPr lvl="0">
              <a:defRPr/>
            </a:pPr>
            <a:r>
              <a:rPr sz="1200" b="1">
                <a:solidFill>
                  <a:srgbClr val="1a1a1a"/>
                </a:solidFill>
                <a:latin typeface="나눔명조"/>
                <a:ea typeface="나눔명조"/>
              </a:rPr>
              <a:t>→ AI 코치가 맞춤 식단·운동 루틴 생성</a:t>
            </a:r>
            <a:endParaRPr sz="1200" b="1">
              <a:solidFill>
                <a:srgbClr val="1a1a1a"/>
              </a:solidFill>
              <a:latin typeface="나눔명조"/>
              <a:ea typeface="나눔명조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4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02.  AI 음식 분석 기술</a:t>
            </a:r>
            <a:endParaRPr sz="14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18850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GPT-4o Vision 3단계 추론</a:t>
            </a:r>
            <a:endParaRPr sz="2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 ExtraBold"/>
                <a:ea typeface="나눔고딕 ExtraBold"/>
              </a:rPr>
              <a:t>단순 이미지 인식을 넘어 물리적 계산으로 칼로리를 도출</a:t>
            </a:r>
            <a:endParaRPr sz="1200" b="0" i="0">
              <a:solidFill>
                <a:srgbClr val="6a6a6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5  /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386000"/>
            <a:ext cx="2064023" cy="3420000"/>
          </a:xfrm>
          <a:prstGeom prst="rect">
            <a:avLst/>
          </a:prstGeom>
          <a:solidFill>
            <a:srgbClr val="C0C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023" y="2826000"/>
            <a:ext cx="144000" cy="540000"/>
          </a:xfrm>
          <a:prstGeom prst="rect">
            <a:avLst/>
          </a:prstGeom>
          <a:noFill/>
        </p:spPr>
        <p:txBody>
          <a:bodyPr wrap="square"/>
          <a:lstStyle/>
          <a:p>
            <a:pPr lvl="0" algn="ctr">
              <a:defRPr/>
            </a:pPr>
            <a:r>
              <a:rPr sz="1100" b="0" i="0">
                <a:solidFill>
                  <a:srgbClr val="6a6a6a"/>
                </a:solidFill>
                <a:latin typeface="나눔고딕"/>
                <a:ea typeface="나눔고딕"/>
              </a:rPr>
              <a:t>▶</a:t>
            </a:r>
            <a:endParaRPr sz="11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0000" y="1458000"/>
            <a:ext cx="1956023" cy="21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0">
                <a:solidFill>
                  <a:srgbClr val="1a1a1a"/>
                </a:solidFill>
                <a:latin typeface="케리스 케듀체 R"/>
                <a:ea typeface="케리스 케듀체 R"/>
              </a:rPr>
              <a:t>입력</a:t>
            </a:r>
            <a:endParaRPr sz="1000" b="0" i="0">
              <a:solidFill>
                <a:srgbClr val="1a1a1a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0000" y="1692000"/>
            <a:ext cx="1956023" cy="39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3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음식 사진</a:t>
            </a:r>
            <a:endParaRPr sz="13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0000" y="2106000"/>
            <a:ext cx="1920023" cy="14400"/>
          </a:xfrm>
          <a:prstGeom prst="rect">
            <a:avLst/>
          </a:prstGeom>
          <a:solidFill>
            <a:srgbClr val="ccc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000">
              <a:latin typeface="나눔고딕"/>
              <a:ea typeface="나눔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0000" y="2178000"/>
            <a:ext cx="1956023" cy="244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1a1a1a"/>
                </a:solidFill>
                <a:latin typeface="나눔고딕"/>
                <a:ea typeface="나눔고딕"/>
              </a:rPr>
              <a:t>· 사용자가 카메라로 촬영</a:t>
            </a:r>
            <a:endParaRPr sz="11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1a1a1a"/>
                </a:solidFill>
                <a:latin typeface="나눔고딕"/>
                <a:ea typeface="나눔고딕"/>
              </a:rPr>
              <a:t>· Cloudinary에 자동 업로드</a:t>
            </a:r>
            <a:endParaRPr sz="11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1a1a1a"/>
                </a:solidFill>
                <a:latin typeface="나눔고딕"/>
                <a:ea typeface="나눔고딕"/>
              </a:rPr>
              <a:t>· GPT-4o Vision에 이미지 전달</a:t>
            </a:r>
            <a:endParaRPr sz="1100" b="0" i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856023" y="1386000"/>
            <a:ext cx="2064023" cy="3420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0047" y="2826000"/>
            <a:ext cx="144000" cy="540000"/>
          </a:xfrm>
          <a:prstGeom prst="rect">
            <a:avLst/>
          </a:prstGeom>
          <a:noFill/>
        </p:spPr>
        <p:txBody>
          <a:bodyPr wrap="square"/>
          <a:lstStyle/>
          <a:p>
            <a:pPr lvl="0" algn="ctr">
              <a:defRPr/>
            </a:pPr>
            <a:r>
              <a:rPr sz="1100" b="0" i="0">
                <a:solidFill>
                  <a:srgbClr val="6a6a6a"/>
                </a:solidFill>
                <a:latin typeface="나눔고딕"/>
                <a:ea typeface="나눔고딕"/>
              </a:rPr>
              <a:t>▶</a:t>
            </a:r>
            <a:endParaRPr sz="11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8023" y="1458000"/>
            <a:ext cx="1956023" cy="21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STEP 1</a:t>
            </a:r>
            <a:endParaRPr sz="10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28023" y="1692000"/>
            <a:ext cx="1956023" cy="39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3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크기 기준점 찾기</a:t>
            </a:r>
            <a:endParaRPr sz="13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928023" y="2106000"/>
            <a:ext cx="1920023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000">
              <a:latin typeface="나눔고딕"/>
              <a:ea typeface="나눔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8023" y="2178000"/>
            <a:ext cx="1956023" cy="244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· 사진 속 기준 물체 탐지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· (젓가락·그릇·손·테이블)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· 실제 g / ml 수량 추정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64047" y="1386000"/>
            <a:ext cx="2064023" cy="3420000"/>
          </a:xfrm>
          <a:prstGeom prst="rect">
            <a:avLst/>
          </a:prstGeom>
          <a:solidFill>
            <a:srgbClr val="7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8071" y="2826000"/>
            <a:ext cx="144000" cy="540000"/>
          </a:xfrm>
          <a:prstGeom prst="rect">
            <a:avLst/>
          </a:prstGeom>
          <a:noFill/>
        </p:spPr>
        <p:txBody>
          <a:bodyPr wrap="square"/>
          <a:lstStyle/>
          <a:p>
            <a:pPr lvl="0" algn="ctr">
              <a:defRPr/>
            </a:pPr>
            <a:r>
              <a:rPr sz="1100" b="0" i="0">
                <a:solidFill>
                  <a:srgbClr val="6a6a6a"/>
                </a:solidFill>
                <a:latin typeface="나눔고딕"/>
                <a:ea typeface="나눔고딕"/>
              </a:rPr>
              <a:t>▶</a:t>
            </a:r>
            <a:endParaRPr sz="11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36047" y="1458000"/>
            <a:ext cx="1956023" cy="21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STEP 2</a:t>
            </a:r>
            <a:endParaRPr sz="10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36047" y="1692000"/>
            <a:ext cx="1956023" cy="39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3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밀도 결정</a:t>
            </a:r>
            <a:endParaRPr sz="13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136047" y="2106000"/>
            <a:ext cx="1920023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000">
              <a:latin typeface="나눔고딕"/>
              <a:ea typeface="나눔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36047" y="2178000"/>
            <a:ext cx="1956023" cy="244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· 조리 상태·재료 판단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· 내장 밀도표에서 kcal/100g 선택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· (볶음·국물·튀김별 다름)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272071" y="1386000"/>
            <a:ext cx="2064023" cy="34200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6095" y="2826000"/>
            <a:ext cx="144000" cy="540000"/>
          </a:xfrm>
          <a:prstGeom prst="rect">
            <a:avLst/>
          </a:prstGeom>
          <a:noFill/>
        </p:spPr>
        <p:txBody>
          <a:bodyPr wrap="square"/>
          <a:lstStyle/>
          <a:p>
            <a:pPr lvl="0" algn="ctr">
              <a:defRPr/>
            </a:pPr>
            <a:r>
              <a:rPr sz="1100" b="0" i="0">
                <a:solidFill>
                  <a:srgbClr val="6a6a6a"/>
                </a:solidFill>
                <a:latin typeface="나눔고딕"/>
                <a:ea typeface="나눔고딕"/>
              </a:rPr>
              <a:t>▶</a:t>
            </a:r>
            <a:endParaRPr sz="11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44071" y="1458000"/>
            <a:ext cx="1956023" cy="21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0">
                <a:solidFill>
                  <a:srgbClr val="1a1a1a"/>
                </a:solidFill>
                <a:latin typeface="케리스 케듀체 R"/>
                <a:ea typeface="케리스 케듀체 R"/>
              </a:rPr>
              <a:t>STEP 3</a:t>
            </a:r>
            <a:endParaRPr sz="1000" b="0" i="0">
              <a:solidFill>
                <a:srgbClr val="1a1a1a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44071" y="1692000"/>
            <a:ext cx="1956023" cy="39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3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칼로리 계산</a:t>
            </a:r>
            <a:endParaRPr sz="13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344071" y="2106000"/>
            <a:ext cx="1920023" cy="14400"/>
          </a:xfrm>
          <a:prstGeom prst="rect">
            <a:avLst/>
          </a:prstGeom>
          <a:solidFill>
            <a:srgbClr val="ccc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000">
              <a:latin typeface="나눔고딕"/>
              <a:ea typeface="나눔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44071" y="2178000"/>
            <a:ext cx="1956023" cy="244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1a1a1a"/>
                </a:solidFill>
                <a:latin typeface="나눔고딕"/>
                <a:ea typeface="나눔고딕"/>
              </a:rPr>
              <a:t>· calories = g × kcal/100g ÷ 100</a:t>
            </a:r>
            <a:endParaRPr sz="11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1a1a1a"/>
                </a:solidFill>
                <a:latin typeface="나눔고딕"/>
                <a:ea typeface="나눔고딕"/>
              </a:rPr>
              <a:t>· 탄수화물·단백질·지방 비율 산출</a:t>
            </a:r>
            <a:endParaRPr sz="11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1a1a1a"/>
                </a:solidFill>
                <a:latin typeface="나눔고딕"/>
                <a:ea typeface="나눔고딕"/>
              </a:rPr>
              <a:t>· JSON 형식으로 결과 반환</a:t>
            </a:r>
            <a:endParaRPr sz="1100" b="0" i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480095" y="1386000"/>
            <a:ext cx="2064023" cy="3420000"/>
          </a:xfrm>
          <a:prstGeom prst="rect">
            <a:avLst/>
          </a:prstGeom>
          <a:solidFill>
            <a:srgbClr val="E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2095" y="1458000"/>
            <a:ext cx="1956023" cy="21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0">
                <a:solidFill>
                  <a:srgbClr val="1a1a1a"/>
                </a:solidFill>
                <a:latin typeface="케리스 케듀체 R"/>
                <a:ea typeface="케리스 케듀체 R"/>
              </a:rPr>
              <a:t>출력</a:t>
            </a:r>
            <a:endParaRPr sz="1000" b="0" i="0">
              <a:solidFill>
                <a:srgbClr val="1a1a1a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552095" y="1692000"/>
            <a:ext cx="1956023" cy="39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3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결과 확인</a:t>
            </a:r>
            <a:endParaRPr sz="13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552095" y="2106000"/>
            <a:ext cx="1920023" cy="14400"/>
          </a:xfrm>
          <a:prstGeom prst="rect">
            <a:avLst/>
          </a:prstGeom>
          <a:solidFill>
            <a:srgbClr val="ccc8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2000">
              <a:latin typeface="나눔고딕"/>
              <a:ea typeface="나눔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552095" y="2178000"/>
            <a:ext cx="1956023" cy="244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1a1a1a"/>
                </a:solidFill>
                <a:latin typeface="나눔고딕"/>
                <a:ea typeface="나눔고딕"/>
              </a:rPr>
              <a:t>· 음식명·칼로리·탄단지 표시</a:t>
            </a:r>
            <a:endParaRPr sz="11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1a1a1a"/>
                </a:solidFill>
                <a:latin typeface="나눔고딕"/>
                <a:ea typeface="나눔고딕"/>
              </a:rPr>
              <a:t>· ½ ~ 2인분 양 조절 슬라이더</a:t>
            </a:r>
            <a:endParaRPr sz="11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100" b="0" i="0">
                <a:solidFill>
                  <a:srgbClr val="1a1a1a"/>
                </a:solidFill>
                <a:latin typeface="나눔고딕"/>
                <a:ea typeface="나눔고딕"/>
              </a:rPr>
              <a:t>· 사용자 확인 후 DB 저장</a:t>
            </a:r>
            <a:endParaRPr sz="1100" b="0" i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8000" y="4914000"/>
            <a:ext cx="10896119" cy="32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1">
                <a:solidFill>
                  <a:srgbClr val="6a6a6a"/>
                </a:solidFill>
                <a:latin typeface="나눔명조"/>
              </a:rPr>
              <a:t>※ 중복 음식 자동 제거 (동일 food_name·serving_size·calories 튜플 dedup) + 그램합 오류 시 kcal 자동 재계산 보정</a:t>
            </a:r>
            <a:endParaRPr sz="1000" b="0" i="1">
              <a:solidFill>
                <a:srgbClr val="6a6a6a"/>
              </a:solidFill>
              <a:latin typeface="나눔명조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4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02.  AI 음식 분석 기술</a:t>
            </a:r>
            <a:endParaRPr sz="14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28375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AI 추론 결과 구조 &amp; 사용자 검증 흐름</a:t>
            </a:r>
            <a:endParaRPr sz="2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 ExtraBold"/>
                <a:ea typeface="나눔고딕 ExtraBold"/>
              </a:rPr>
              <a:t>JSON 응답 스키마 · 양 조절 슬라이더 · DB 저장 구조</a:t>
            </a:r>
            <a:endParaRPr sz="1200" b="0" i="0">
              <a:solidFill>
                <a:srgbClr val="6a6a6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6  /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278000"/>
            <a:ext cx="5230137" cy="352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386000"/>
            <a:ext cx="5014137" cy="3311999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100" b="0" i="1">
                <a:solidFill>
                  <a:srgbClr val="9a9a9a"/>
                </a:solidFill>
                <a:latin typeface="나눔명조"/>
              </a:rPr>
              <a:t>// GPT-4o Vision 응답 JSON 스키마</a:t>
            </a:r>
            <a:endParaRPr sz="1100" b="0" i="1">
              <a:solidFill>
                <a:srgbClr val="9a9a9a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ffffff"/>
                </a:solidFill>
                <a:latin typeface="나눔명조"/>
              </a:rPr>
              <a:t>{</a:t>
            </a:r>
            <a:endParaRPr sz="1100" b="0" i="0">
              <a:solidFill>
                <a:srgbClr val="ffffff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ffffff"/>
                </a:solidFill>
                <a:latin typeface="나눔명조"/>
              </a:rPr>
              <a:t>  "foods": [</a:t>
            </a:r>
            <a:endParaRPr sz="1100" b="0" i="0">
              <a:solidFill>
                <a:srgbClr val="ffffff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ffffff"/>
                </a:solidFill>
                <a:latin typeface="나눔명조"/>
              </a:rPr>
              <a:t>    {</a:t>
            </a:r>
            <a:endParaRPr sz="1100" b="0" i="0">
              <a:solidFill>
                <a:srgbClr val="ffffff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70b080"/>
                </a:solidFill>
                <a:latin typeface="나눔명조"/>
              </a:rPr>
              <a:t>      "food_name": "비빔밥",</a:t>
            </a:r>
            <a:endParaRPr sz="1100" b="0" i="0">
              <a:solidFill>
                <a:srgbClr val="70b080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e8b94a"/>
                </a:solidFill>
                <a:latin typeface="나눔명조"/>
              </a:rPr>
              <a:t>      "calories": 560,</a:t>
            </a:r>
            <a:endParaRPr sz="1100" b="0" i="0">
              <a:solidFill>
                <a:srgbClr val="e8b94a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c0c0f0"/>
                </a:solidFill>
                <a:latin typeface="나눔명조"/>
              </a:rPr>
              <a:t>      "carbs": 95,</a:t>
            </a:r>
            <a:endParaRPr sz="1100" b="0" i="0">
              <a:solidFill>
                <a:srgbClr val="c0c0f0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c0c0f0"/>
                </a:solidFill>
                <a:latin typeface="나눔명조"/>
              </a:rPr>
              <a:t>      "protein": 18,</a:t>
            </a:r>
            <a:endParaRPr sz="1100" b="0" i="0">
              <a:solidFill>
                <a:srgbClr val="c0c0f0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c0c0f0"/>
                </a:solidFill>
                <a:latin typeface="나눔명조"/>
              </a:rPr>
              <a:t>      "fat": 9,</a:t>
            </a:r>
            <a:endParaRPr sz="1100" b="0" i="0">
              <a:solidFill>
                <a:srgbClr val="c0c0f0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ffffff"/>
                </a:solidFill>
                <a:latin typeface="나눔명조"/>
              </a:rPr>
              <a:t>      "serving_size": "1인분",</a:t>
            </a:r>
            <a:endParaRPr sz="1100" b="0" i="0">
              <a:solidFill>
                <a:srgbClr val="ffffff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ffffff"/>
                </a:solidFill>
                <a:latin typeface="나눔명조"/>
              </a:rPr>
              <a:t>      "weight_g": 450,</a:t>
            </a:r>
            <a:endParaRPr sz="1100" b="0" i="0">
              <a:solidFill>
                <a:srgbClr val="ffffff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9a9a9a"/>
                </a:solidFill>
                <a:latin typeface="나눔명조"/>
              </a:rPr>
              <a:t>      "confidence": 0.87,</a:t>
            </a:r>
            <a:endParaRPr sz="1100" b="0" i="0">
              <a:solidFill>
                <a:srgbClr val="9a9a9a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9a9a9a"/>
                </a:solidFill>
                <a:latin typeface="나눔명조"/>
              </a:rPr>
              <a:t>      "debug": {</a:t>
            </a:r>
            <a:endParaRPr sz="1100" b="0" i="0">
              <a:solidFill>
                <a:srgbClr val="9a9a9a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9a9a9a"/>
                </a:solidFill>
                <a:latin typeface="나눔명조"/>
              </a:rPr>
              <a:t>        "step1": "그릇 지름 약 22cm"</a:t>
            </a:r>
            <a:endParaRPr sz="1100" b="0" i="0">
              <a:solidFill>
                <a:srgbClr val="9a9a9a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9a9a9a"/>
                </a:solidFill>
                <a:latin typeface="나눔명조"/>
              </a:rPr>
              <a:t>        "step2": "볶음밥류 밀도 적용"</a:t>
            </a:r>
            <a:endParaRPr sz="1100" b="0" i="0">
              <a:solidFill>
                <a:srgbClr val="9a9a9a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9a9a9a"/>
                </a:solidFill>
                <a:latin typeface="나눔명조"/>
              </a:rPr>
              <a:t>      }</a:t>
            </a:r>
            <a:endParaRPr sz="1100" b="0" i="0">
              <a:solidFill>
                <a:srgbClr val="9a9a9a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ffffff"/>
                </a:solidFill>
                <a:latin typeface="나눔명조"/>
              </a:rPr>
              <a:t>    }</a:t>
            </a:r>
            <a:endParaRPr sz="1100" b="0" i="0">
              <a:solidFill>
                <a:srgbClr val="ffffff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ffffff"/>
                </a:solidFill>
                <a:latin typeface="나눔명조"/>
              </a:rPr>
              <a:t>  ]</a:t>
            </a:r>
            <a:endParaRPr sz="1100" b="0" i="0">
              <a:solidFill>
                <a:srgbClr val="ffffff"/>
              </a:solidFill>
              <a:latin typeface="나눔명조"/>
            </a:endParaRPr>
          </a:p>
          <a:p>
            <a:pPr lvl="0" algn="l">
              <a:defRPr/>
            </a:pPr>
            <a:r>
              <a:rPr sz="1100" b="0" i="0">
                <a:solidFill>
                  <a:srgbClr val="ffffff"/>
                </a:solidFill>
                <a:latin typeface="나눔명조"/>
              </a:rPr>
              <a:t>}</a:t>
            </a:r>
            <a:endParaRPr sz="1100" b="0" i="0">
              <a:solidFill>
                <a:srgbClr val="ffffff"/>
              </a:solidFill>
              <a:latin typeface="나눔명조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58137" y="1278000"/>
            <a:ext cx="5485981" cy="792000"/>
          </a:xfrm>
          <a:prstGeom prst="rect">
            <a:avLst/>
          </a:prstGeom>
          <a:solidFill>
            <a:srgbClr val="c0c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lnSpc>
                <a:spcPct val="110000"/>
              </a:lnSpc>
              <a:defRPr/>
            </a:pPr>
            <a:endParaRPr lang="ko-KR" altLang="en-US" sz="1900"/>
          </a:p>
        </p:txBody>
      </p:sp>
      <p:sp>
        <p:nvSpPr>
          <p:cNvPr id="12" name="TextBox 11"/>
          <p:cNvSpPr txBox="1"/>
          <p:nvPr/>
        </p:nvSpPr>
        <p:spPr>
          <a:xfrm>
            <a:off x="6184136" y="1350000"/>
            <a:ext cx="5305981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10000"/>
              </a:lnSpc>
              <a:defRPr/>
            </a:pPr>
            <a:r>
              <a:rPr sz="12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① 분석 결과 표시</a:t>
            </a:r>
            <a:endParaRPr sz="12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4136" y="1602000"/>
            <a:ext cx="5305981" cy="396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defRPr/>
            </a:pPr>
            <a:r>
              <a:rPr sz="1000" b="0">
                <a:solidFill>
                  <a:srgbClr val="1a1a1a"/>
                </a:solidFill>
                <a:latin typeface="나눔고딕"/>
                <a:ea typeface="나눔고딕"/>
              </a:rPr>
              <a:t>AI가 인식한 음식 목록·칼로리 제시</a:t>
            </a:r>
            <a:endParaRPr sz="10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000" b="0">
                <a:solidFill>
                  <a:srgbClr val="1a1a1a"/>
                </a:solidFill>
                <a:latin typeface="나눔고딕"/>
                <a:ea typeface="나눔고딕"/>
              </a:rPr>
              <a:t>신뢰도(confidence) 수치 함께 표시</a:t>
            </a:r>
            <a:endParaRPr sz="1000" b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58137" y="2160000"/>
            <a:ext cx="5485981" cy="79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lnSpc>
                <a:spcPct val="110000"/>
              </a:lnSpc>
              <a:defRPr/>
            </a:pPr>
            <a:endParaRPr lang="ko-KR" altLang="en-US" sz="1900"/>
          </a:p>
        </p:txBody>
      </p:sp>
      <p:sp>
        <p:nvSpPr>
          <p:cNvPr id="15" name="TextBox 14"/>
          <p:cNvSpPr txBox="1"/>
          <p:nvPr/>
        </p:nvSpPr>
        <p:spPr>
          <a:xfrm>
            <a:off x="6184136" y="2232000"/>
            <a:ext cx="5305981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10000"/>
              </a:lnSpc>
              <a:defRPr/>
            </a:pPr>
            <a:r>
              <a:rPr sz="12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② 양 조절 슬라이더</a:t>
            </a:r>
            <a:endParaRPr sz="12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84136" y="2484000"/>
            <a:ext cx="5305981" cy="396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defRPr/>
            </a:pPr>
            <a:r>
              <a:rPr sz="1000" b="0">
                <a:solidFill>
                  <a:srgbClr val="ffffff"/>
                </a:solidFill>
                <a:latin typeface="나눔고딕"/>
                <a:ea typeface="나눔고딕"/>
              </a:rPr>
              <a:t>½ / 1 / 1½ / 2인분 선택</a:t>
            </a:r>
            <a:endParaRPr sz="10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000" b="0">
                <a:solidFill>
                  <a:srgbClr val="ffffff"/>
                </a:solidFill>
                <a:latin typeface="나눔고딕"/>
                <a:ea typeface="나눔고딕"/>
              </a:rPr>
              <a:t>칼로리·탄단지 실시간 재계산</a:t>
            </a:r>
            <a:endParaRPr sz="10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58137" y="3042000"/>
            <a:ext cx="5485981" cy="792000"/>
          </a:xfrm>
          <a:prstGeom prst="rect">
            <a:avLst/>
          </a:prstGeom>
          <a:solidFill>
            <a:srgbClr val="7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lnSpc>
                <a:spcPct val="110000"/>
              </a:lnSpc>
              <a:defRPr/>
            </a:pPr>
            <a:endParaRPr lang="ko-KR" altLang="en-US" sz="1900"/>
          </a:p>
        </p:txBody>
      </p:sp>
      <p:sp>
        <p:nvSpPr>
          <p:cNvPr id="18" name="TextBox 17"/>
          <p:cNvSpPr txBox="1"/>
          <p:nvPr/>
        </p:nvSpPr>
        <p:spPr>
          <a:xfrm>
            <a:off x="6184136" y="3114000"/>
            <a:ext cx="5305981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10000"/>
              </a:lnSpc>
              <a:defRPr/>
            </a:pPr>
            <a:r>
              <a:rPr sz="12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③ 공유 그룹 선택</a:t>
            </a:r>
            <a:endParaRPr sz="12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84136" y="3366000"/>
            <a:ext cx="5305981" cy="396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defRPr/>
            </a:pPr>
            <a:r>
              <a:rPr sz="1000" b="0">
                <a:solidFill>
                  <a:srgbClr val="ffffff"/>
                </a:solidFill>
                <a:latin typeface="나눔고딕"/>
                <a:ea typeface="나눔고딕"/>
              </a:rPr>
              <a:t>개인 하루로그 기본 선택</a:t>
            </a:r>
            <a:endParaRPr sz="10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000" b="0">
                <a:solidFill>
                  <a:srgbClr val="ffffff"/>
                </a:solidFill>
                <a:latin typeface="나눔고딕"/>
                <a:ea typeface="나눔고딕"/>
              </a:rPr>
              <a:t>참여 중인 일반 그룹에도 공유 가능</a:t>
            </a:r>
            <a:endParaRPr sz="10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58137" y="3924000"/>
            <a:ext cx="5485981" cy="7920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lnSpc>
                <a:spcPct val="110000"/>
              </a:lnSpc>
              <a:defRPr/>
            </a:pPr>
            <a:endParaRPr lang="ko-KR" altLang="en-US" sz="1900"/>
          </a:p>
        </p:txBody>
      </p:sp>
      <p:sp>
        <p:nvSpPr>
          <p:cNvPr id="21" name="TextBox 20"/>
          <p:cNvSpPr txBox="1"/>
          <p:nvPr/>
        </p:nvSpPr>
        <p:spPr>
          <a:xfrm>
            <a:off x="6184136" y="3996000"/>
            <a:ext cx="5305981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10000"/>
              </a:lnSpc>
              <a:defRPr/>
            </a:pPr>
            <a:r>
              <a:rPr sz="12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④ DB 저장</a:t>
            </a:r>
            <a:endParaRPr sz="12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84136" y="4248000"/>
            <a:ext cx="5305981" cy="396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defRPr/>
            </a:pPr>
            <a:r>
              <a:rPr sz="1000" b="0">
                <a:solidFill>
                  <a:srgbClr val="1a1a1a"/>
                </a:solidFill>
                <a:latin typeface="나눔고딕"/>
                <a:ea typeface="나눔고딕"/>
              </a:rPr>
              <a:t>meal_records + meal_group_shares</a:t>
            </a:r>
            <a:endParaRPr sz="10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000" b="0">
                <a:solidFill>
                  <a:srgbClr val="1a1a1a"/>
                </a:solidFill>
                <a:latin typeface="나눔고딕"/>
                <a:ea typeface="나눔고딕"/>
              </a:rPr>
              <a:t>Cloudinary CDN 썸네일 자동 생성</a:t>
            </a:r>
            <a:endParaRPr sz="1000" b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8000" y="4914000"/>
            <a:ext cx="10896119" cy="32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950" b="0" i="1">
                <a:solidFill>
                  <a:srgbClr val="6a6a6a"/>
                </a:solidFill>
                <a:latin typeface="나눔명조"/>
              </a:rPr>
              <a:t>텍스트 퀵로그(QuickLogModal) 지원 — 사진 없이 음식을 직접 검색해 기록, image_url="" sentinel 처리</a:t>
            </a:r>
            <a:endParaRPr sz="950" b="0" i="1">
              <a:solidFill>
                <a:srgbClr val="6a6a6a"/>
              </a:solidFill>
              <a:latin typeface="나눔명조"/>
            </a:endParaRP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4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03.  주요 기능</a:t>
            </a:r>
            <a:endParaRPr sz="14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18850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그룹 공유 &amp; 실시간 비교</a:t>
            </a:r>
            <a:endParaRPr sz="2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 ExtraBold"/>
                <a:ea typeface="나눔고딕 ExtraBold"/>
              </a:rPr>
              <a:t>친구·가족과 함께하는 소셜 식단 기록</a:t>
            </a:r>
            <a:endParaRPr sz="1200" b="0" i="0">
              <a:solidFill>
                <a:srgbClr val="6a6a6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7  /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278000"/>
            <a:ext cx="3512039" cy="1440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999" y="1350000"/>
            <a:ext cx="333203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그룹 생성 &amp; 입장</a:t>
            </a:r>
            <a:endParaRPr sz="15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3999" y="1602000"/>
            <a:ext cx="3332039" cy="1044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2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6자리 코드로 즉시 참가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2~12명 인원 제한 설정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그룹명·설정 오너 전용 변경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40039" y="1278000"/>
            <a:ext cx="3512039" cy="1440000"/>
          </a:xfrm>
          <a:prstGeom prst="rect">
            <a:avLst/>
          </a:prstGeom>
          <a:solidFill>
            <a:srgbClr val="7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6038" y="1350000"/>
            <a:ext cx="333203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그룹 피드</a:t>
            </a:r>
            <a:endParaRPr sz="15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66038" y="1602000"/>
            <a:ext cx="3332039" cy="1044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2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멤버 식사 사진·칼로리 피드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아침/점심/저녁/간식 태그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기록 없는 멤버도 '기록 없음' 표시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32079" y="1278000"/>
            <a:ext cx="3512039" cy="14400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078" y="1350000"/>
            <a:ext cx="333203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이모티콘 &amp; 댓글</a:t>
            </a:r>
            <a:endParaRPr sz="1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8078" y="1602000"/>
            <a:ext cx="3332039" cy="1044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2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👍 </a:t>
            </a:r>
            <a:r>
              <a:rPr lang="en-US" altLang="ko-KR" sz="1300" b="0">
                <a:solidFill>
                  <a:srgbClr val="1a1a1a"/>
                </a:solidFill>
                <a:latin typeface="나눔고딕"/>
                <a:ea typeface="나눔고딕"/>
              </a:rPr>
              <a:t> </a:t>
            </a: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😋 </a:t>
            </a:r>
            <a:r>
              <a:rPr lang="en-US" altLang="ko-KR" sz="1300" b="0">
                <a:solidFill>
                  <a:srgbClr val="1a1a1a"/>
                </a:solidFill>
                <a:latin typeface="나눔고딕"/>
                <a:ea typeface="나눔고딕"/>
              </a:rPr>
              <a:t> </a:t>
            </a: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🔥 </a:t>
            </a:r>
            <a:r>
              <a:rPr lang="en-US" altLang="ko-KR" sz="1300" b="0">
                <a:solidFill>
                  <a:srgbClr val="1a1a1a"/>
                </a:solidFill>
                <a:latin typeface="나눔고딕"/>
                <a:ea typeface="나눔고딕"/>
              </a:rPr>
              <a:t> </a:t>
            </a: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💪 </a:t>
            </a:r>
            <a:r>
              <a:rPr lang="en-US" altLang="ko-KR" sz="1300" b="0">
                <a:solidFill>
                  <a:srgbClr val="1a1a1a"/>
                </a:solidFill>
                <a:latin typeface="나눔고딕"/>
                <a:ea typeface="나눔고딕"/>
              </a:rPr>
              <a:t> </a:t>
            </a: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😭 </a:t>
            </a:r>
            <a:r>
              <a:rPr lang="en-US" altLang="ko-KR" sz="1300" b="0">
                <a:solidFill>
                  <a:srgbClr val="1a1a1a"/>
                </a:solidFill>
                <a:latin typeface="나눔고딕"/>
                <a:ea typeface="나눔고딕"/>
              </a:rPr>
              <a:t> </a:t>
            </a: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반응 버튼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낙관적 업데이트로 즉각 반영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인스타 라이브 스타일 이모지 플로팅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8000" y="2826000"/>
            <a:ext cx="10896119" cy="2160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" y="2916000"/>
            <a:ext cx="10896119" cy="251999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300" b="0" i="0">
                <a:solidFill>
                  <a:srgbClr val="1a1a1a"/>
                </a:solidFill>
                <a:latin typeface="케리스 케듀체 B"/>
                <a:ea typeface="케리스 케듀체 B"/>
              </a:rPr>
              <a:t>랭킹 &amp; 비교 탭</a:t>
            </a:r>
            <a:endParaRPr sz="1300" b="0" i="0">
              <a:solidFill>
                <a:srgbClr val="1a1a1a"/>
              </a:solidFill>
              <a:latin typeface="케리스 케듀체 B"/>
              <a:ea typeface="케리스 케듀체 B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8000" y="3222000"/>
            <a:ext cx="180000" cy="576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999" y="3240000"/>
            <a:ext cx="10644120" cy="57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200" b="0" i="0">
                <a:solidFill>
                  <a:srgbClr val="1a1a1a"/>
                </a:solidFill>
                <a:latin typeface="케리스 케듀체 B"/>
              </a:rPr>
              <a:t>그룹 내 랭킹</a:t>
            </a:r>
            <a:endParaRPr sz="1200" b="0" i="0">
              <a:solidFill>
                <a:srgbClr val="1a1a1a"/>
              </a:solidFill>
              <a:latin typeface="케리스 케듀체 B"/>
            </a:endParaRPr>
          </a:p>
          <a:p>
            <a:pPr lvl="0" algn="l">
              <a:spcBef>
                <a:spcPts val="100"/>
              </a:spcBef>
              <a:defRPr/>
            </a:pPr>
            <a:r>
              <a:rPr sz="1100" b="0" i="0">
                <a:solidFill>
                  <a:srgbClr val="808080"/>
                </a:solidFill>
                <a:latin typeface="나눔명조"/>
              </a:rPr>
              <a:t>하루 칼로리 달성률 순위 실시간 집계 · 1위는 코발트 강조 카드 표시</a:t>
            </a:r>
            <a:endParaRPr sz="1100" b="0" i="0">
              <a:solidFill>
                <a:srgbClr val="808080"/>
              </a:solidFill>
              <a:latin typeface="나눔명조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8000" y="3870000"/>
            <a:ext cx="180000" cy="576000"/>
          </a:xfrm>
          <a:prstGeom prst="rect">
            <a:avLst/>
          </a:prstGeom>
          <a:solidFill>
            <a:srgbClr val="E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999" y="3888000"/>
            <a:ext cx="10644120" cy="57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200" b="0" i="0">
                <a:solidFill>
                  <a:srgbClr val="1a1a1a"/>
                </a:solidFill>
                <a:latin typeface="케리스 케듀체 B"/>
              </a:rPr>
              <a:t>달성률 바 그래프</a:t>
            </a:r>
            <a:endParaRPr sz="1200" b="0" i="0">
              <a:solidFill>
                <a:srgbClr val="1a1a1a"/>
              </a:solidFill>
              <a:latin typeface="케리스 케듀체 B"/>
            </a:endParaRPr>
          </a:p>
          <a:p>
            <a:pPr lvl="0" algn="l">
              <a:spcBef>
                <a:spcPts val="100"/>
              </a:spcBef>
              <a:defRPr/>
            </a:pPr>
            <a:r>
              <a:rPr sz="1100" b="0" i="0">
                <a:solidFill>
                  <a:srgbClr val="808080"/>
                </a:solidFill>
                <a:latin typeface="나눔명조"/>
              </a:rPr>
              <a:t>0~79%(세이지) · 80~99%(황토) · 100%(코발트) · 110%+(코랄) 동적 색상</a:t>
            </a:r>
            <a:endParaRPr sz="1100" b="0" i="0">
              <a:solidFill>
                <a:srgbClr val="808080"/>
              </a:solidFill>
              <a:latin typeface="나눔명조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8000" y="4518000"/>
            <a:ext cx="180000" cy="576000"/>
          </a:xfrm>
          <a:prstGeom prst="rect">
            <a:avLst/>
          </a:prstGeom>
          <a:solidFill>
            <a:srgbClr val="C0C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999" y="4536000"/>
            <a:ext cx="10644120" cy="57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200" b="0" i="0">
                <a:solidFill>
                  <a:srgbClr val="1a1a1a"/>
                </a:solidFill>
                <a:latin typeface="케리스 케듀체 B"/>
              </a:rPr>
              <a:t>개인 하루로그 분리</a:t>
            </a:r>
            <a:endParaRPr sz="1200" b="0" i="0">
              <a:solidFill>
                <a:srgbClr val="1a1a1a"/>
              </a:solidFill>
              <a:latin typeface="케리스 케듀체 B"/>
            </a:endParaRPr>
          </a:p>
          <a:p>
            <a:pPr lvl="0" algn="l">
              <a:spcBef>
                <a:spcPts val="100"/>
              </a:spcBef>
              <a:defRPr/>
            </a:pPr>
            <a:r>
              <a:rPr sz="1100" b="0" i="0">
                <a:solidFill>
                  <a:srgbClr val="808080"/>
                </a:solidFill>
                <a:latin typeface="나눔명조"/>
              </a:rPr>
              <a:t>is_personal=true 그룹은 비교에서 제외 · 모든 식사 자동 공유</a:t>
            </a:r>
            <a:endParaRPr sz="1100" b="0" i="0">
              <a:solidFill>
                <a:srgbClr val="808080"/>
              </a:solidFill>
              <a:latin typeface="나눔명조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999" y="5148000"/>
            <a:ext cx="10896119" cy="32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1">
                <a:solidFill>
                  <a:srgbClr val="6a6a6a"/>
                </a:solidFill>
                <a:latin typeface="나눔명조"/>
              </a:rPr>
              <a:t>※ KST 표시 수정(UTC+9h 변환) · 리액션 낙관적 업데이트 · 달력 레이아웃 고정(42일 그리드) 완료</a:t>
            </a:r>
            <a:endParaRPr sz="1000" b="0" i="1">
              <a:solidFill>
                <a:srgbClr val="6a6a6a"/>
              </a:solidFill>
              <a:latin typeface="나눔명조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4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03.  주요 기능</a:t>
            </a:r>
            <a:endParaRPr sz="14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09325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개인 맞춤 건강 관리</a:t>
            </a:r>
            <a:endParaRPr sz="2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 ExtraBold"/>
                <a:ea typeface="나눔고딕 ExtraBold"/>
              </a:rPr>
              <a:t>분석 탭 · 체중 트래커 · AI 코치 · 월간 통계</a:t>
            </a:r>
            <a:endParaRPr sz="1200" b="0" i="0">
              <a:solidFill>
                <a:srgbClr val="6a6a6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8  /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278000"/>
            <a:ext cx="5358059" cy="1620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999" y="1350000"/>
            <a:ext cx="5178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분석 탭 — 일별 / 주간 / 월간</a:t>
            </a:r>
            <a:endParaRPr sz="15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3999" y="1630575"/>
            <a:ext cx="5178059" cy="1224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· 목표 칼로리 대비 달성률 진행바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· 탄단지 원형 차트 (탄=황토·단=세이지·지=코랄)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· 개인 목표 탄단지 대비 % 표시 (targets 프롭)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· 단백질 기준 109g 통일 (식약처 2020 개정)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86059" y="1278000"/>
            <a:ext cx="5358059" cy="1620000"/>
          </a:xfrm>
          <a:prstGeom prst="rect">
            <a:avLst/>
          </a:prstGeom>
          <a:solidFill>
            <a:srgbClr val="7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2058" y="1350000"/>
            <a:ext cx="5178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체중 기록 트래커</a:t>
            </a:r>
            <a:endParaRPr sz="15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12058" y="1630575"/>
            <a:ext cx="5178059" cy="1224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· SVG 꺾은선 그래프 · 90일 추이 시각화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· 오늘 체중 입력 · 같은 날 덮어쓰기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· POST /users/me/weight → UNIQUE(user_id, date)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ffffff"/>
                </a:solidFill>
                <a:latin typeface="나눔고딕"/>
                <a:ea typeface="나눔고딕"/>
              </a:rPr>
              <a:t>· 기록/삭제 시 Toast 알림 표시</a:t>
            </a:r>
            <a:endParaRPr sz="13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8000" y="3023999"/>
            <a:ext cx="5358059" cy="1620000"/>
          </a:xfrm>
          <a:prstGeom prst="rect">
            <a:avLst/>
          </a:prstGeom>
          <a:solidFill>
            <a:srgbClr val="c0c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2100"/>
          </a:p>
        </p:txBody>
      </p:sp>
      <p:sp>
        <p:nvSpPr>
          <p:cNvPr id="16" name="TextBox 15"/>
          <p:cNvSpPr txBox="1"/>
          <p:nvPr/>
        </p:nvSpPr>
        <p:spPr>
          <a:xfrm>
            <a:off x="773999" y="3095999"/>
            <a:ext cx="5178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AI 코치</a:t>
            </a:r>
            <a:endParaRPr sz="1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3999" y="3376574"/>
            <a:ext cx="5178059" cy="1224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· GPT-4o-mini 기반 맞춤 식단·운동 루틴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· PNG 내보내기 (Canvas API)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· 운동명 → 구글 검색 링크 자동 연결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· 결과 localStorage 저장 · 재방문 시 복원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186059" y="3023999"/>
            <a:ext cx="5358059" cy="1620000"/>
          </a:xfrm>
          <a:prstGeom prst="rect">
            <a:avLst/>
          </a:prstGeom>
          <a:solidFill>
            <a:srgbClr val="e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2100"/>
          </a:p>
        </p:txBody>
      </p:sp>
      <p:sp>
        <p:nvSpPr>
          <p:cNvPr id="19" name="TextBox 18"/>
          <p:cNvSpPr txBox="1"/>
          <p:nvPr/>
        </p:nvSpPr>
        <p:spPr>
          <a:xfrm>
            <a:off x="6312058" y="3095999"/>
            <a:ext cx="517805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월간 통계 (MonthlyStats)</a:t>
            </a:r>
            <a:endParaRPr sz="1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12058" y="3376574"/>
            <a:ext cx="5178059" cy="1224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· 달력 히트맵 — 달성률 구간별 색상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· 기록없음(회색)→세이지→황토→코발트→코랄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· 월간 요약 수치 (총 칼로리·평균·달성일수)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defRPr/>
            </a:pPr>
            <a:r>
              <a:rPr sz="1300" b="0">
                <a:solidFill>
                  <a:srgbClr val="1a1a1a"/>
                </a:solidFill>
                <a:latin typeface="나눔고딕"/>
                <a:ea typeface="나눔고딕"/>
              </a:rPr>
              <a:t>· Top 5 자주 먹은 음식 표시</a:t>
            </a:r>
            <a:endParaRPr sz="1300" b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8000" y="4752000"/>
            <a:ext cx="10896119" cy="36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1">
                <a:solidFill>
                  <a:srgbClr val="6a6a6a"/>
                </a:solidFill>
                <a:latin typeface="나눔명조"/>
              </a:rPr>
              <a:t>추가:  즐겨찾기 백엔드 DB 동기화 · 식사 알림(Notification API) · 식사 기록 수정(오너 전용) · 하루 식단 요약 카드 PNG 내보내기</a:t>
            </a:r>
            <a:endParaRPr sz="1000" b="0" i="1">
              <a:solidFill>
                <a:srgbClr val="6a6a6a"/>
              </a:solidFill>
              <a:latin typeface="나눔명조"/>
            </a:endParaRP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505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60000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2520000"/>
            <a:ext cx="1800000" cy="180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7200" b="0" i="0">
                <a:solidFill>
                  <a:srgbClr val="5058f0"/>
                </a:solidFill>
                <a:latin typeface="케리스 케듀체 B"/>
              </a:rPr>
              <a:t>04</a:t>
            </a:r>
            <a:endParaRPr sz="7200" b="0" i="0">
              <a:solidFill>
                <a:srgbClr val="5058f0"/>
              </a:solidFill>
              <a:latin typeface="케리스 케듀체 B"/>
            </a:endParaRPr>
          </a:p>
          <a:p>
            <a:pPr lvl="0" algn="l">
              <a:spcBef>
                <a:spcPts val="200"/>
              </a:spcBef>
              <a:defRPr/>
            </a:pPr>
            <a:r>
              <a:rPr lang="en-US" altLang="ko-KR" sz="1600" b="0" i="0">
                <a:solidFill>
                  <a:srgbClr val="6a6a6a"/>
                </a:solidFill>
                <a:latin typeface="케리스 케듀체 R"/>
              </a:rPr>
              <a:t> </a:t>
            </a:r>
            <a:r>
              <a:rPr sz="1600" b="0" i="0">
                <a:solidFill>
                  <a:srgbClr val="6a6a6a"/>
                </a:solidFill>
                <a:latin typeface="케리스 케듀체 R"/>
              </a:rPr>
              <a:t>DEMO</a:t>
            </a:r>
            <a:endParaRPr sz="1600" b="0" i="0">
              <a:solidFill>
                <a:srgbClr val="6a6a6a"/>
              </a:solidFill>
              <a:latin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00000" y="2169000"/>
            <a:ext cx="8640000" cy="126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6900" b="0" i="0">
                <a:solidFill>
                  <a:srgbClr val="ffffff"/>
                </a:solidFill>
                <a:latin typeface="케리스 케듀체 B"/>
                <a:ea typeface="케리스 케듀체 B"/>
              </a:rPr>
              <a:t>프로그램 시연</a:t>
            </a:r>
            <a:endParaRPr sz="6900" b="0" i="0">
              <a:solidFill>
                <a:srgbClr val="ffffff"/>
              </a:solidFill>
              <a:latin typeface="케리스 케듀체 B"/>
              <a:ea typeface="케리스 케듀체 B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00000" y="3420000"/>
            <a:ext cx="7920000" cy="288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00000" y="3600000"/>
            <a:ext cx="8640000" cy="72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900" b="0" i="0">
                <a:solidFill>
                  <a:srgbClr val="c0c0f0"/>
                </a:solidFill>
                <a:latin typeface="나눔고딕 ExtraBold"/>
                <a:ea typeface="나눔고딕 ExtraBold"/>
              </a:rPr>
              <a:t>직접 화면을 보며 주요 기능을 설명드리겠습니다</a:t>
            </a:r>
            <a:endParaRPr sz="1900" b="0" i="0">
              <a:solidFill>
                <a:srgbClr val="c0c0f0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00000" y="4223893"/>
            <a:ext cx="8640000" cy="126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spcBef>
                <a:spcPts val="400"/>
              </a:spcBef>
              <a:defRPr/>
            </a:pPr>
            <a:r>
              <a:rPr sz="1400" b="0" i="0">
                <a:solidFill>
                  <a:srgbClr val="ffffff"/>
                </a:solidFill>
                <a:latin typeface="나눔명조"/>
              </a:rPr>
              <a:t>·  음식 사진 촬영 → AI 3단계 분석 → 저장</a:t>
            </a:r>
            <a:endParaRPr sz="1400" b="0" i="0">
              <a:solidFill>
                <a:srgbClr val="ffffff"/>
              </a:solidFill>
              <a:latin typeface="나눔명조"/>
            </a:endParaRPr>
          </a:p>
          <a:p>
            <a:pPr lvl="0" algn="l">
              <a:spcBef>
                <a:spcPts val="400"/>
              </a:spcBef>
              <a:defRPr/>
            </a:pPr>
            <a:r>
              <a:rPr sz="1400" b="0" i="0">
                <a:solidFill>
                  <a:srgbClr val="ffffff"/>
                </a:solidFill>
                <a:latin typeface="나눔명조"/>
              </a:rPr>
              <a:t>·  그룹 피드 · 이모티콘 반응 · 랭킹 확인</a:t>
            </a:r>
            <a:endParaRPr sz="1400" b="0" i="0">
              <a:solidFill>
                <a:srgbClr val="ffffff"/>
              </a:solidFill>
              <a:latin typeface="나눔명조"/>
            </a:endParaRPr>
          </a:p>
          <a:p>
            <a:pPr lvl="0" algn="l">
              <a:spcBef>
                <a:spcPts val="400"/>
              </a:spcBef>
              <a:defRPr/>
            </a:pPr>
            <a:r>
              <a:rPr sz="1400" b="0" i="0">
                <a:solidFill>
                  <a:srgbClr val="ffffff"/>
                </a:solidFill>
                <a:latin typeface="나눔명조"/>
              </a:rPr>
              <a:t>·  분석 탭 — 일별 영양소 · 체중 트래커 · AI 코치</a:t>
            </a:r>
            <a:endParaRPr sz="1400" b="0" i="0">
              <a:solidFill>
                <a:srgbClr val="ffffff"/>
              </a:solidFill>
              <a:latin typeface="나눔명조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FFFFFF"/>
                </a:solidFill>
                <a:latin typeface="NanumMyeongjo"/>
              </a:rPr>
              <a:t>9  /  13</a:t>
            </a:r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400" b="0" i="0">
                <a:solidFill>
                  <a:srgbClr val="ffffff"/>
                </a:solidFill>
                <a:latin typeface="케리스 케듀체 R"/>
              </a:rPr>
              <a:t>05.  기술 </a:t>
            </a:r>
            <a:r>
              <a:rPr sz="14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아키텍처</a:t>
            </a:r>
            <a:endParaRPr sz="14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18850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시스템 아키텍처 &amp; 기술 스택</a:t>
            </a:r>
            <a:endParaRPr sz="2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 ExtraBold"/>
                <a:ea typeface="나눔고딕 ExtraBold"/>
              </a:rPr>
              <a:t>Next.js App Router · FastAPI · Supabase · Cloudinary · GPT-4o</a:t>
            </a:r>
            <a:endParaRPr sz="1200" b="0" i="0">
              <a:solidFill>
                <a:srgbClr val="6a6a6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10  /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278000"/>
            <a:ext cx="3512039" cy="3600000"/>
          </a:xfrm>
          <a:prstGeom prst="rect">
            <a:avLst/>
          </a:prstGeom>
          <a:solidFill>
            <a:srgbClr val="C0C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1312950"/>
            <a:ext cx="336803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프론트엔드</a:t>
            </a:r>
            <a:endParaRPr sz="1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6000" y="1594800"/>
            <a:ext cx="3296039" cy="14400"/>
          </a:xfrm>
          <a:prstGeom prst="rect">
            <a:avLst/>
          </a:prstGeom>
          <a:solidFill>
            <a:srgbClr val="bbb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2100"/>
          </a:p>
        </p:txBody>
      </p:sp>
      <p:sp>
        <p:nvSpPr>
          <p:cNvPr id="12" name="TextBox 11"/>
          <p:cNvSpPr txBox="1"/>
          <p:nvPr/>
        </p:nvSpPr>
        <p:spPr>
          <a:xfrm>
            <a:off x="756000" y="1657050"/>
            <a:ext cx="3368039" cy="3168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1a1a1a"/>
                </a:solidFill>
                <a:latin typeface="나눔고딕"/>
                <a:ea typeface="나눔고딕"/>
              </a:rPr>
              <a:t>Next.js 14        </a:t>
            </a:r>
            <a:r>
              <a:rPr sz="1200">
                <a:solidFill>
                  <a:srgbClr val="1a1a1a"/>
                </a:solidFill>
                <a:latin typeface="나눔고딕"/>
                <a:ea typeface="나눔고딕"/>
              </a:rPr>
              <a:t>App Router · SSR/CSR 혼합</a:t>
            </a:r>
            <a:endParaRPr sz="120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1a1a1a"/>
                </a:solidFill>
                <a:latin typeface="나눔고딕"/>
                <a:ea typeface="나눔고딕"/>
              </a:rPr>
              <a:t>TypeScript        </a:t>
            </a:r>
            <a:r>
              <a:rPr sz="1200">
                <a:solidFill>
                  <a:srgbClr val="1a1a1a"/>
                </a:solidFill>
                <a:latin typeface="나눔고딕"/>
                <a:ea typeface="나눔고딕"/>
              </a:rPr>
              <a:t>엄격 타입 체계</a:t>
            </a:r>
            <a:endParaRPr sz="120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1a1a1a"/>
                </a:solidFill>
                <a:latin typeface="나눔고딕"/>
                <a:ea typeface="나눔고딕"/>
              </a:rPr>
              <a:t>Tailwind CSS      </a:t>
            </a:r>
            <a:r>
              <a:rPr sz="1200">
                <a:solidFill>
                  <a:srgbClr val="1a1a1a"/>
                </a:solidFill>
                <a:latin typeface="나눔고딕"/>
                <a:ea typeface="나눔고딕"/>
              </a:rPr>
              <a:t>먹로그 디자인 토큰</a:t>
            </a:r>
            <a:endParaRPr sz="120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1a1a1a"/>
                </a:solidFill>
                <a:latin typeface="나눔고딕"/>
                <a:ea typeface="나눔고딕"/>
              </a:rPr>
              <a:t>Zustand           </a:t>
            </a:r>
            <a:r>
              <a:rPr sz="1200">
                <a:solidFill>
                  <a:srgbClr val="1a1a1a"/>
                </a:solidFill>
                <a:latin typeface="나눔고딕"/>
                <a:ea typeface="나눔고딕"/>
              </a:rPr>
              <a:t>전역 상태 관리</a:t>
            </a:r>
            <a:endParaRPr sz="120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1a1a1a"/>
                </a:solidFill>
                <a:latin typeface="나눔고딕"/>
                <a:ea typeface="나눔고딕"/>
              </a:rPr>
              <a:t>TanStack Query    </a:t>
            </a:r>
            <a:r>
              <a:rPr sz="1200">
                <a:solidFill>
                  <a:srgbClr val="1a1a1a"/>
                </a:solidFill>
                <a:latin typeface="나눔고딕"/>
                <a:ea typeface="나눔고딕"/>
              </a:rPr>
              <a:t>서버 상태 캐시</a:t>
            </a:r>
            <a:endParaRPr sz="120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1a1a1a"/>
                </a:solidFill>
                <a:latin typeface="나눔고딕"/>
                <a:ea typeface="나눔고딕"/>
              </a:rPr>
              <a:t>Axios             </a:t>
            </a:r>
            <a:r>
              <a:rPr sz="1200">
                <a:solidFill>
                  <a:srgbClr val="1a1a1a"/>
                </a:solidFill>
                <a:latin typeface="나눔고딕"/>
                <a:ea typeface="나눔고딕"/>
              </a:rPr>
              <a:t>camelCase↔snake_case 자동 변환</a:t>
            </a:r>
            <a:endParaRPr sz="120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1a1a1a"/>
                </a:solidFill>
                <a:latin typeface="나눔고딕"/>
                <a:ea typeface="나눔고딕"/>
              </a:rPr>
              <a:t>Canvas API        </a:t>
            </a:r>
            <a:r>
              <a:rPr sz="1200">
                <a:solidFill>
                  <a:srgbClr val="1a1a1a"/>
                </a:solidFill>
                <a:latin typeface="나눔고딕"/>
                <a:ea typeface="나눔고딕"/>
              </a:rPr>
              <a:t>이미지 내보내기</a:t>
            </a:r>
            <a:endParaRPr sz="120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1a1a1a"/>
                </a:solidFill>
                <a:latin typeface="나눔고딕"/>
                <a:ea typeface="나눔고딕"/>
              </a:rPr>
              <a:t>Lucide React      </a:t>
            </a:r>
            <a:r>
              <a:rPr sz="1200">
                <a:solidFill>
                  <a:srgbClr val="1a1a1a"/>
                </a:solidFill>
                <a:latin typeface="나눔고딕"/>
                <a:ea typeface="나눔고딕"/>
              </a:rPr>
              <a:t>아이콘 시스템</a:t>
            </a:r>
            <a:endParaRPr sz="120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40039" y="1278000"/>
            <a:ext cx="3512039" cy="3600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8039" y="1312950"/>
            <a:ext cx="336803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백엔드</a:t>
            </a:r>
            <a:endParaRPr sz="15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48039" y="1594800"/>
            <a:ext cx="3296039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2100"/>
          </a:p>
        </p:txBody>
      </p:sp>
      <p:sp>
        <p:nvSpPr>
          <p:cNvPr id="16" name="TextBox 15"/>
          <p:cNvSpPr txBox="1"/>
          <p:nvPr/>
        </p:nvSpPr>
        <p:spPr>
          <a:xfrm>
            <a:off x="4448039" y="1657050"/>
            <a:ext cx="3368039" cy="3168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FastAPI   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async Python REST API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SQLAlchemy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async ORM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Pydantic v2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요청/응답 스키마 검증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OAuth2.0  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Google 소셜 로그인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JWT       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7일 만료 액세스 토큰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Cloudinary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이미지 업로드 + CDN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OpenAI SDK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GPT-4o Vision / GPT-4o-mini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Uvicorn   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ASGI 서버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32079" y="1278000"/>
            <a:ext cx="3512039" cy="3600000"/>
          </a:xfrm>
          <a:prstGeom prst="rect">
            <a:avLst/>
          </a:prstGeom>
          <a:solidFill>
            <a:srgbClr val="7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0079" y="1312950"/>
            <a:ext cx="3368039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인프라 / DB</a:t>
            </a:r>
            <a:endParaRPr sz="15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40079" y="1594800"/>
            <a:ext cx="3296039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2100"/>
          </a:p>
        </p:txBody>
      </p:sp>
      <p:sp>
        <p:nvSpPr>
          <p:cNvPr id="20" name="TextBox 19"/>
          <p:cNvSpPr txBox="1"/>
          <p:nvPr/>
        </p:nvSpPr>
        <p:spPr>
          <a:xfrm>
            <a:off x="8140079" y="1657050"/>
            <a:ext cx="3368039" cy="3168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Supabase  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PostgreSQL · Auth · Realtime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Vercel    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프론트엔드 자동 배포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Railway   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FastAPI 백엔드 배포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meal_records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음식 기록 핵심 테이블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weight_records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체중 기록 (UNIQUE per day)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user_favorite_foods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즐겨찾기 영구 저장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meal_group_shares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그룹 공유 매핑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>
              <a:lnSpc>
                <a:spcPct val="110000"/>
              </a:lnSpc>
              <a:spcBef>
                <a:spcPts val="250"/>
              </a:spcBef>
              <a:defRPr/>
            </a:pPr>
            <a:r>
              <a:rPr sz="1200" b="1">
                <a:solidFill>
                  <a:srgbClr val="ffffff"/>
                </a:solidFill>
                <a:latin typeface="나눔고딕"/>
                <a:ea typeface="나눔고딕"/>
              </a:rPr>
              <a:t>SQLite            </a:t>
            </a:r>
            <a:r>
              <a:rPr sz="1200">
                <a:solidFill>
                  <a:srgbClr val="ffffff"/>
                </a:solidFill>
                <a:latin typeface="나눔고딕"/>
                <a:ea typeface="나눔고딕"/>
              </a:rPr>
              <a:t>개발 환경 (Supabase IPv6 우회)</a:t>
            </a:r>
            <a:endParaRPr sz="120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8000" y="4986000"/>
            <a:ext cx="10896119" cy="30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1">
                <a:solidFill>
                  <a:srgbClr val="6a6a6a"/>
                </a:solidFill>
                <a:latin typeface="나눔명조"/>
              </a:rPr>
              <a:t>Axios 인터셉터: 모든 요청/응답에서 snake_case ↔ camelCase 자동 변환 · DevSidebar(Ctrl+F11)에서 실시간 네트워크·AI 추론 로그 확인 가능</a:t>
            </a:r>
            <a:endParaRPr sz="1000" b="0" i="1">
              <a:solidFill>
                <a:srgbClr val="6a6a6a"/>
              </a:solidFill>
              <a:latin typeface="나눔명조"/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4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06.  개발 성과 &amp; 향후 계획</a:t>
            </a:r>
            <a:endParaRPr sz="14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28375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케리스 케듀체 B"/>
              </a:rPr>
              <a:t>Phase 1 → Phase 2 </a:t>
            </a: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완성 내역</a:t>
            </a:r>
            <a:endParaRPr sz="2500" b="0" i="0">
              <a:solidFill>
                <a:srgbClr val="1a1a1a"/>
              </a:solidFill>
              <a:latin typeface="케리스 케듀체 B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"/>
                <a:ea typeface="나눔고딕"/>
              </a:rPr>
              <a:t>MVP 핵심 루프 완성 후 기능 강화 및 품질 개선</a:t>
            </a:r>
            <a:endParaRPr sz="1200" b="0" i="0">
              <a:solidFill>
                <a:srgbClr val="6a6a6a"/>
              </a:solidFill>
              <a:latin typeface="나눔고딕"/>
              <a:ea typeface="나눔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11  /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278000"/>
            <a:ext cx="5121175" cy="3600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999" y="1321425"/>
            <a:ext cx="4941175" cy="21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ffffff"/>
                </a:solidFill>
                <a:latin typeface="케리스 케듀체 B"/>
              </a:rPr>
              <a:t>Phase 1  —  MVP </a:t>
            </a:r>
            <a:endParaRPr sz="1500" b="0" i="0">
              <a:solidFill>
                <a:srgbClr val="ffffff"/>
              </a:solidFill>
              <a:latin typeface="케리스 케듀체 B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3999" y="1594800"/>
            <a:ext cx="4905175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3999" y="1638000"/>
            <a:ext cx="4941175" cy="3131999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Google OAuth 2.0 로그인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GPT-4o Vision AI 3단계 칼로리 분석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음식 정보 수정 + 양 조절 슬라이더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날짜별 개인 로그 (칼로리 진행바)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그룹 생성·참가 (2~12명 코드 방식)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그룹 피드 + 이모지 반응 + 댓글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그룹원 실시간 칼로리 비교·랭킹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Mifflin-St Jeor 개인 목표 칼로리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AI 보정 (그램합 오류 → kcal 재계산)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AI 중복 음식 자동 제거 (dedup)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그룹 설정 (이름·인원 오너 전용)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DevSidebar 개발자 모드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KST 시간 수정 · 달력 레이아웃 안정화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9175" y="1278000"/>
            <a:ext cx="5594943" cy="3600000"/>
          </a:xfrm>
          <a:prstGeom prst="rect">
            <a:avLst/>
          </a:prstGeom>
          <a:solidFill>
            <a:srgbClr val="7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5174" y="1321425"/>
            <a:ext cx="5414943" cy="21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ffffff"/>
                </a:solidFill>
                <a:latin typeface="케리스 케듀체 B"/>
                <a:ea typeface="케리스 케듀체 B"/>
              </a:rPr>
              <a:t>Phase 2  —  기능 강화</a:t>
            </a:r>
            <a:endParaRPr sz="1500" b="0" i="0">
              <a:solidFill>
                <a:srgbClr val="ffffff"/>
              </a:solidFill>
              <a:latin typeface="케리스 케듀체 B"/>
              <a:ea typeface="케리스 케듀체 B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75174" y="1594800"/>
            <a:ext cx="5378943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5174" y="1638000"/>
            <a:ext cx="5414943" cy="3131999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즐겨찾기 (로컬→백엔드 DB 동기화)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식사 알림 (Notification API)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식사 기록 수정 (오너 전용)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AI 코치 (식단·운동 + PNG 내보내기)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텍스트 퀵로그 (QuickLogModal)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체중 기록 트래커 (SVG 그래프)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월간 통계 (히트맵 + Top5)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Toast 알림 시스템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영양소 개인 목표 대비 % 표시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즐겨찾기 mapFood 버그 수정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퀵로그 image_url 500 에러 수정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100" b="0" i="0">
                <a:solidFill>
                  <a:srgbClr val="ffffff"/>
                </a:solidFill>
                <a:latin typeface="나눔고딕"/>
              </a:rPr>
              <a:t>✓</a:t>
            </a:r>
            <a:r>
              <a:rPr sz="1100" b="0" i="0">
                <a:solidFill>
                  <a:srgbClr val="ffffff"/>
                </a:solidFill>
                <a:latin typeface="나눔고딕"/>
                <a:ea typeface="나눔고딕"/>
              </a:rPr>
              <a:t>  AI 코치 결과 localStorage 저장</a:t>
            </a:r>
            <a:endParaRPr sz="1100" b="0" i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8000" y="4986000"/>
            <a:ext cx="10896119" cy="306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000" b="0" i="1">
                <a:solidFill>
                  <a:srgbClr val="6a6a6a"/>
                </a:solidFill>
                <a:latin typeface="나눔명조"/>
              </a:rPr>
              <a:t>총 완성: Phase 1 — 15개 · Phase 2 — 25개  |  미구현: RefreshToken · 그룹 채팅(WebSocket) · Rate Limiting · 그룹장 양도</a:t>
            </a:r>
            <a:endParaRPr sz="1000" b="0" i="1">
              <a:solidFill>
                <a:srgbClr val="6a6a6a"/>
              </a:solidFill>
              <a:latin typeface="나눔명조"/>
            </a:endParaRPr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522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36000"/>
            <a:ext cx="10896119" cy="522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400" b="0" i="0">
                <a:solidFill>
                  <a:srgbClr val="ffffff"/>
                </a:solidFill>
                <a:latin typeface="케리스 케듀체 R"/>
                <a:ea typeface="케리스 케듀체 R"/>
              </a:rPr>
              <a:t>06.  개발 성과 &amp; 향후 계획</a:t>
            </a:r>
            <a:endParaRPr sz="1400" b="0" i="0">
              <a:solidFill>
                <a:srgbClr val="ffffff"/>
              </a:solidFill>
              <a:latin typeface="케리스 케듀체 R"/>
              <a:ea typeface="케리스 케듀체 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8000" y="509325"/>
            <a:ext cx="10896119" cy="558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2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스마트폰 앱 출시 및 Phase 3 로드맵</a:t>
            </a:r>
            <a:endParaRPr sz="25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  <a:p>
            <a:pPr lvl="0" algn="l">
              <a:spcBef>
                <a:spcPts val="200"/>
              </a:spcBef>
              <a:defRPr/>
            </a:pPr>
            <a:r>
              <a:rPr sz="1200" b="0" i="0">
                <a:solidFill>
                  <a:srgbClr val="6a6a6a"/>
                </a:solidFill>
                <a:latin typeface="나눔고딕 ExtraBold"/>
                <a:ea typeface="나눔고딕 ExtraBold"/>
              </a:rPr>
              <a:t>현재 웹 앱 → 향후 React Native 기반 iOS / Android 앱으로 전환</a:t>
            </a:r>
            <a:endParaRPr sz="1200" b="0" i="0">
              <a:solidFill>
                <a:srgbClr val="6a6a6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8000" y="1170000"/>
            <a:ext cx="10896119" cy="252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6552000"/>
            <a:ext cx="360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A6A6A"/>
                </a:solidFill>
                <a:latin typeface="KERIS KEDU R"/>
              </a:rPr>
              <a:t>팀 먹로그  |  AI와 머신러닝 기말 과제  |  25학번 이건우 · 23학번 윤서영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552000"/>
            <a:ext cx="1260000" cy="251999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6A6A6A"/>
                </a:solidFill>
                <a:latin typeface="NanumMyeongjo"/>
              </a:rPr>
              <a:t>12  /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287525"/>
            <a:ext cx="5992865" cy="90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10000"/>
              </a:lnSpc>
              <a:defRPr/>
            </a:pPr>
            <a:r>
              <a:rPr sz="1400" b="0" i="0">
                <a:solidFill>
                  <a:srgbClr val="5058f0"/>
                </a:solidFill>
                <a:latin typeface="케리스 케듀체 B"/>
                <a:ea typeface="케리스 케듀체 B"/>
              </a:rPr>
              <a:t>스마트폰 앱 전환 계획</a:t>
            </a:r>
            <a:endParaRPr sz="1400" b="0" i="0">
              <a:solidFill>
                <a:srgbClr val="5058f0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10000"/>
              </a:lnSpc>
              <a:spcBef>
                <a:spcPts val="400"/>
              </a:spcBef>
              <a:defRPr/>
            </a:pPr>
            <a:r>
              <a:rPr sz="1050" b="0" i="0">
                <a:solidFill>
                  <a:srgbClr val="3a3a3a"/>
                </a:solidFill>
                <a:latin typeface="나눔고딕"/>
                <a:ea typeface="나눔고딕"/>
              </a:rPr>
              <a:t>현재 먹로그는 모바일 최적화 웹 앱으로 구현되어 있으며,</a:t>
            </a:r>
            <a:endParaRPr sz="1050" b="0" i="0">
              <a:solidFill>
                <a:srgbClr val="3a3a3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10000"/>
              </a:lnSpc>
              <a:spcBef>
                <a:spcPts val="400"/>
              </a:spcBef>
              <a:defRPr/>
            </a:pPr>
            <a:r>
              <a:rPr sz="1050" b="0" i="0">
                <a:solidFill>
                  <a:srgbClr val="3a3a3a"/>
                </a:solidFill>
                <a:latin typeface="나눔고딕"/>
                <a:ea typeface="나눔고딕"/>
              </a:rPr>
              <a:t>추후 React Native(Expo) 기반 네이티브 앱으로 전환 후 App Store · Play Store에 정식 배포할 예정입니다.</a:t>
            </a:r>
            <a:endParaRPr sz="1050" b="0" i="0">
              <a:solidFill>
                <a:srgbClr val="3a3a3a"/>
              </a:solidFill>
              <a:latin typeface="나눔고딕"/>
              <a:ea typeface="나눔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8000" y="2285999"/>
            <a:ext cx="5992865" cy="648000"/>
          </a:xfrm>
          <a:prstGeom prst="rect">
            <a:avLst/>
          </a:prstGeom>
          <a:solidFill>
            <a:srgbClr val="505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3999" y="2357999"/>
            <a:ext cx="5812865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2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1단계 — 웹 앱 완성 (현재)</a:t>
            </a:r>
            <a:endParaRPr sz="12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3999" y="2619524"/>
            <a:ext cx="5812865" cy="252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000" b="0">
                <a:solidFill>
                  <a:srgbClr val="ffffff"/>
                </a:solidFill>
                <a:latin typeface="나눔고딕"/>
                <a:ea typeface="나눔고딕"/>
              </a:rPr>
              <a:t>Next.js 14 기반 PWA · 모바일 브라우저 최적화 · Vercel 배포 중</a:t>
            </a:r>
            <a:endParaRPr sz="10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8000" y="3023999"/>
            <a:ext cx="5992865" cy="648000"/>
          </a:xfrm>
          <a:prstGeom prst="rect">
            <a:avLst/>
          </a:prstGeom>
          <a:solidFill>
            <a:srgbClr val="E8B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3999" y="3095999"/>
            <a:ext cx="5812865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2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2단계 — React Native 전환</a:t>
            </a:r>
            <a:endParaRPr sz="12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3999" y="3357524"/>
            <a:ext cx="5812865" cy="252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000" b="0">
                <a:solidFill>
                  <a:srgbClr val="1a1a1a"/>
                </a:solidFill>
                <a:latin typeface="나눔고딕"/>
                <a:ea typeface="나눔고딕"/>
              </a:rPr>
              <a:t>Expo 프레임워크 도입 · 네이티브 카메라 API · 푸시 알림 · 오프라인 동작</a:t>
            </a:r>
            <a:endParaRPr sz="1000" b="0">
              <a:solidFill>
                <a:srgbClr val="1a1a1a"/>
              </a:solidFill>
              <a:latin typeface="나눔고딕"/>
              <a:ea typeface="나눔고딕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8000" y="3761999"/>
            <a:ext cx="5992865" cy="648000"/>
          </a:xfrm>
          <a:prstGeom prst="rect">
            <a:avLst/>
          </a:prstGeom>
          <a:solidFill>
            <a:srgbClr val="70B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3999" y="3833999"/>
            <a:ext cx="5812865" cy="234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200" b="0" i="0">
                <a:solidFill>
                  <a:srgbClr val="ffffff"/>
                </a:solidFill>
                <a:latin typeface="나눔고딕 ExtraBold"/>
                <a:ea typeface="나눔고딕 ExtraBold"/>
              </a:rPr>
              <a:t>3단계 — 앱 스토어 출시</a:t>
            </a:r>
            <a:endParaRPr sz="1200" b="0" i="0">
              <a:solidFill>
                <a:srgbClr val="ffffff"/>
              </a:solidFill>
              <a:latin typeface="나눔고딕 ExtraBold"/>
              <a:ea typeface="나눔고딕 Extra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3999" y="4095524"/>
            <a:ext cx="5812865" cy="252000"/>
          </a:xfrm>
          <a:prstGeom prst="rect">
            <a:avLst/>
          </a:prstGeom>
          <a:noFill/>
        </p:spPr>
        <p:txBody>
          <a:bodyPr wrap="square"/>
          <a:lstStyle/>
          <a:p>
            <a:pPr lvl="0">
              <a:defRPr/>
            </a:pPr>
            <a:r>
              <a:rPr sz="1000" b="0">
                <a:solidFill>
                  <a:srgbClr val="ffffff"/>
                </a:solidFill>
                <a:latin typeface="나눔고딕"/>
                <a:ea typeface="나눔고딕"/>
              </a:rPr>
              <a:t>iOS App Store · Google Play 정식 등록 · 온보딩 흐름 최적화</a:t>
            </a:r>
            <a:endParaRPr sz="1000" b="0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8000" y="4571999"/>
            <a:ext cx="5992865" cy="90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2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Phase 3 기술 로드맵</a:t>
            </a:r>
            <a:endParaRPr sz="1200" b="0" i="0">
              <a:solidFill>
                <a:srgbClr val="1a1a1a"/>
              </a:solidFill>
              <a:latin typeface="나눔고딕 ExtraBold"/>
              <a:ea typeface="나눔고딕 ExtraBold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000" b="0" i="0">
                <a:solidFill>
                  <a:srgbClr val="3a3a3a"/>
                </a:solidFill>
                <a:latin typeface="나눔고딕 ExtraBold"/>
                <a:ea typeface="나눔고딕 ExtraBold"/>
              </a:rPr>
              <a:t>· </a:t>
            </a:r>
            <a:r>
              <a:rPr sz="1000" b="0" i="0">
                <a:solidFill>
                  <a:srgbClr val="3a3a3a"/>
                </a:solidFill>
                <a:latin typeface="나눔고딕"/>
                <a:ea typeface="나눔고딕"/>
              </a:rPr>
              <a:t>YOLO 기반 다중 음식 객체 동시 탐지</a:t>
            </a:r>
            <a:endParaRPr sz="1000" b="0" i="0">
              <a:solidFill>
                <a:srgbClr val="3a3a3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000" b="0" i="0">
                <a:solidFill>
                  <a:srgbClr val="3a3a3a"/>
                </a:solidFill>
                <a:latin typeface="나눔고딕"/>
                <a:ea typeface="나눔고딕"/>
              </a:rPr>
              <a:t>· 인바디 사진 OCR 체성분 자동 분석</a:t>
            </a:r>
            <a:endParaRPr sz="1000" b="0" i="0">
              <a:solidFill>
                <a:srgbClr val="3a3a3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000" b="0" i="0">
                <a:solidFill>
                  <a:srgbClr val="3a3a3a"/>
                </a:solidFill>
                <a:latin typeface="나눔고딕"/>
                <a:ea typeface="나눔고딕"/>
              </a:rPr>
              <a:t>· 그룹 챌린지 시스템 (7일 달성 뱃지)</a:t>
            </a:r>
            <a:endParaRPr sz="1000" b="0" i="0">
              <a:solidFill>
                <a:srgbClr val="3a3a3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000" b="0" i="0">
                <a:solidFill>
                  <a:srgbClr val="3a3a3a"/>
                </a:solidFill>
                <a:latin typeface="나눔고딕"/>
                <a:ea typeface="나눔고딕"/>
              </a:rPr>
              <a:t>· Supabase Realtime 이모지 실시간 반영</a:t>
            </a:r>
            <a:endParaRPr sz="1000" b="0" i="0">
              <a:solidFill>
                <a:srgbClr val="3a3a3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20000"/>
              </a:lnSpc>
              <a:spcBef>
                <a:spcPts val="200"/>
              </a:spcBef>
              <a:defRPr/>
            </a:pPr>
            <a:r>
              <a:rPr sz="1000" b="0" i="0">
                <a:solidFill>
                  <a:srgbClr val="3a3a3a"/>
                </a:solidFill>
                <a:latin typeface="나눔고딕"/>
                <a:ea typeface="나눔고딕"/>
              </a:rPr>
              <a:t>· RefreshToken 도입 (현재 7일 만료 후 재로그인)</a:t>
            </a:r>
            <a:endParaRPr sz="1000" b="0" i="0">
              <a:solidFill>
                <a:srgbClr val="3a3a3a"/>
              </a:solidFill>
              <a:latin typeface="나눔고딕"/>
              <a:ea typeface="나눔고딕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6865" y="1278000"/>
            <a:ext cx="4687253" cy="4474349"/>
          </a:xfrm>
          <a:prstGeom prst="rect">
            <a:avLst/>
          </a:prstGeom>
          <a:solidFill>
            <a:srgbClr val="f2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  <p:sp>
        <p:nvSpPr>
          <p:cNvPr id="21" name="TextBox 20"/>
          <p:cNvSpPr txBox="1"/>
          <p:nvPr/>
        </p:nvSpPr>
        <p:spPr>
          <a:xfrm>
            <a:off x="6964865" y="1386000"/>
            <a:ext cx="4507253" cy="28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058F0"/>
                </a:solidFill>
                <a:latin typeface="KERIS KEDU B"/>
              </a:rPr>
              <a:t>앱 아이콘 (확정)</a:t>
            </a:r>
          </a:p>
        </p:txBody>
      </p:sp>
      <p:pic>
        <p:nvPicPr>
          <p:cNvPr id="22" name="Picture 21" descr="KakaoTalk_20260620_204355294_03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337492" y="1710000"/>
            <a:ext cx="3761999" cy="37619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64865" y="5828678"/>
            <a:ext cx="4507253" cy="720000"/>
          </a:xfrm>
          <a:prstGeom prst="rect">
            <a:avLst/>
          </a:prstGeom>
          <a:noFill/>
        </p:spPr>
        <p:txBody>
          <a:bodyPr wrap="square"/>
          <a:lstStyle/>
          <a:p>
            <a:pPr lvl="0" algn="ctr">
              <a:defRPr/>
            </a:pPr>
            <a:r>
              <a:rPr sz="1100" b="0" i="0">
                <a:solidFill>
                  <a:srgbClr val="6a6a6a"/>
                </a:solidFill>
                <a:latin typeface="나눔고딕"/>
                <a:ea typeface="나눔고딕"/>
              </a:rPr>
              <a:t>귀여운 동물 캐릭터 아이콘으로</a:t>
            </a:r>
            <a:endParaRPr sz="1100" b="0" i="0">
              <a:solidFill>
                <a:srgbClr val="6a6a6a"/>
              </a:solidFill>
              <a:latin typeface="나눔고딕"/>
              <a:ea typeface="나눔고딕"/>
            </a:endParaRPr>
          </a:p>
          <a:p>
            <a:pPr lvl="0" algn="ctr">
              <a:defRPr/>
            </a:pPr>
            <a:r>
              <a:rPr sz="1100" b="0" i="0">
                <a:solidFill>
                  <a:srgbClr val="6a6a6a"/>
                </a:solidFill>
                <a:latin typeface="나눔고딕"/>
                <a:ea typeface="나눔고딕"/>
              </a:rPr>
              <a:t>친근하고 가벼운 앱 이미지 강조</a:t>
            </a:r>
            <a:endParaRPr sz="1100" b="0" i="0">
              <a:solidFill>
                <a:srgbClr val="6a6a6a"/>
              </a:solidFill>
              <a:latin typeface="나눔고딕"/>
              <a:ea typeface="나눔고딕"/>
            </a:endParaRPr>
          </a:p>
          <a:p>
            <a:pPr lvl="0" algn="ctr">
              <a:spcBef>
                <a:spcPts val="400"/>
              </a:spcBef>
              <a:defRPr/>
            </a:pPr>
            <a:r>
              <a:rPr sz="1200" b="0" i="0">
                <a:solidFill>
                  <a:srgbClr val="5058f0"/>
                </a:solidFill>
                <a:latin typeface="나눔고딕"/>
                <a:ea typeface="나눔고딕"/>
              </a:rPr>
              <a:t>iOS / Android 동시 출시 예정</a:t>
            </a:r>
            <a:endParaRPr sz="1200" b="0" i="0">
              <a:solidFill>
                <a:srgbClr val="5058f0"/>
              </a:solidFill>
              <a:latin typeface="나눔고딕"/>
              <a:ea typeface="나눔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505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071429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511998"/>
            <a:ext cx="6120000" cy="144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6000" b="0" i="0">
                <a:solidFill>
                  <a:srgbClr val="5058f0"/>
                </a:solidFill>
                <a:latin typeface="케리스 케듀체 Line"/>
                <a:ea typeface="케리스 케듀체 Line"/>
              </a:rPr>
              <a:t>감사합니다</a:t>
            </a:r>
            <a:endParaRPr sz="6000" b="0" i="0">
              <a:solidFill>
                <a:srgbClr val="5058f0"/>
              </a:solidFill>
              <a:latin typeface="케리스 케듀체 Line"/>
              <a:ea typeface="케리스 케듀체 Lin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2000" y="2772000"/>
            <a:ext cx="5040000" cy="32400"/>
          </a:xfrm>
          <a:prstGeom prst="rect">
            <a:avLst/>
          </a:prstGeom>
          <a:solidFill>
            <a:srgbClr val="FFB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951999"/>
            <a:ext cx="6120000" cy="108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defRPr/>
            </a:pPr>
            <a:r>
              <a:rPr sz="1500" b="0" i="0">
                <a:solidFill>
                  <a:srgbClr val="1a1a1a"/>
                </a:solidFill>
                <a:latin typeface="나눔고딕 ExtraBold"/>
                <a:ea typeface="나눔고딕 ExtraBold"/>
              </a:rPr>
              <a:t>먹로그 — 사진 한 장으로 완성하는 AI 식단 기록</a:t>
            </a:r>
            <a:endParaRPr sz="1400" b="0" i="0">
              <a:solidFill>
                <a:srgbClr val="1a1a1a"/>
              </a:solidFill>
              <a:latin typeface="나눔고딕"/>
              <a:ea typeface="나눔고딕"/>
            </a:endParaRPr>
          </a:p>
          <a:p>
            <a:pPr lvl="0" algn="l">
              <a:spcBef>
                <a:spcPts val="600"/>
              </a:spcBef>
              <a:defRPr/>
            </a:pPr>
            <a:r>
              <a:rPr sz="1300" b="0" i="0">
                <a:solidFill>
                  <a:srgbClr val="6a6a6a"/>
                </a:solidFill>
                <a:latin typeface="나눔명조"/>
                <a:ea typeface="나눔명조"/>
              </a:rPr>
              <a:t>AI와 머신러닝 기말고사 과제  ·  2026. 06. 22</a:t>
            </a:r>
            <a:endParaRPr sz="1300" b="0" i="0">
              <a:solidFill>
                <a:srgbClr val="6a6a6a"/>
              </a:solidFill>
              <a:latin typeface="나눔명조"/>
              <a:ea typeface="나눔명조"/>
            </a:endParaRPr>
          </a:p>
          <a:p>
            <a:pPr lvl="0" algn="l">
              <a:spcBef>
                <a:spcPts val="300"/>
              </a:spcBef>
              <a:defRPr/>
            </a:pPr>
            <a:r>
              <a:rPr sz="1300" b="0" i="0">
                <a:solidFill>
                  <a:srgbClr val="6a6a6a"/>
                </a:solidFill>
                <a:latin typeface="나눔명조"/>
                <a:ea typeface="나눔명조"/>
              </a:rPr>
              <a:t>팀 먹로그  ·  25학번 이건우  ·  23학번 윤서영</a:t>
            </a:r>
            <a:endParaRPr sz="1300" b="0" i="0">
              <a:solidFill>
                <a:srgbClr val="6a6a6a"/>
              </a:solidFill>
              <a:latin typeface="나눔명조"/>
              <a:ea typeface="나눔명조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000" y="4140000"/>
            <a:ext cx="6120000" cy="1620000"/>
          </a:xfrm>
          <a:prstGeom prst="rect">
            <a:avLst/>
          </a:prstGeom>
          <a:noFill/>
        </p:spPr>
        <p:txBody>
          <a:bodyPr wrap="square"/>
          <a:lstStyle/>
          <a:p>
            <a:pPr lvl="0" algn="l">
              <a:lnSpc>
                <a:spcPct val="110000"/>
              </a:lnSpc>
              <a:defRPr/>
            </a:pPr>
            <a:r>
              <a:rPr sz="1400" b="0" i="0">
                <a:solidFill>
                  <a:srgbClr val="5058f0"/>
                </a:solidFill>
                <a:latin typeface="나눔고딕 ExtraBold"/>
                <a:ea typeface="나눔고딕 ExtraBold"/>
              </a:rPr>
              <a:t>핵심 성과 요약</a:t>
            </a:r>
            <a:endParaRPr sz="1400" b="0" i="0">
              <a:solidFill>
                <a:srgbClr val="5058f0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10000"/>
              </a:lnSpc>
              <a:spcBef>
                <a:spcPts val="300"/>
              </a:spcBef>
              <a:defRPr/>
            </a:pPr>
            <a:r>
              <a:rPr sz="1200" b="0" i="0">
                <a:solidFill>
                  <a:srgbClr val="3a3a3a"/>
                </a:solidFill>
                <a:latin typeface="나눔고딕"/>
                <a:ea typeface="나눔고딕"/>
              </a:rPr>
              <a:t>  ·  Phase 1 + Phase 2 완성 — 40개 기능 구현</a:t>
            </a:r>
            <a:endParaRPr sz="1200" b="0" i="0">
              <a:solidFill>
                <a:srgbClr val="3a3a3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10000"/>
              </a:lnSpc>
              <a:spcBef>
                <a:spcPts val="300"/>
              </a:spcBef>
              <a:defRPr/>
            </a:pPr>
            <a:r>
              <a:rPr sz="1200" b="0" i="0">
                <a:solidFill>
                  <a:srgbClr val="3a3a3a"/>
                </a:solidFill>
                <a:latin typeface="나눔고딕"/>
                <a:ea typeface="나눔고딕"/>
              </a:rPr>
              <a:t>  ·  GPT-4o Vision 3단계 물리 기반 칼로리 추론</a:t>
            </a:r>
            <a:endParaRPr sz="1200" b="0" i="0">
              <a:solidFill>
                <a:srgbClr val="3a3a3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10000"/>
              </a:lnSpc>
              <a:spcBef>
                <a:spcPts val="300"/>
              </a:spcBef>
              <a:defRPr/>
            </a:pPr>
            <a:r>
              <a:rPr sz="1200" b="0" i="0">
                <a:solidFill>
                  <a:srgbClr val="3a3a3a"/>
                </a:solidFill>
                <a:latin typeface="나눔고딕"/>
                <a:ea typeface="나눔고딕"/>
              </a:rPr>
              <a:t>  ·  그룹 소셜 피드 + 실시간 비교 + 이모지 반응</a:t>
            </a:r>
            <a:endParaRPr sz="1200" b="0" i="0">
              <a:solidFill>
                <a:srgbClr val="3a3a3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10000"/>
              </a:lnSpc>
              <a:spcBef>
                <a:spcPts val="300"/>
              </a:spcBef>
              <a:defRPr/>
            </a:pPr>
            <a:r>
              <a:rPr sz="1200" b="0" i="0">
                <a:solidFill>
                  <a:srgbClr val="3a3a3a"/>
                </a:solidFill>
                <a:latin typeface="나눔고딕"/>
                <a:ea typeface="나눔고딕"/>
              </a:rPr>
              <a:t>  ·  체중 트래커 · AI 코치 · 월간 히트맵 통계</a:t>
            </a:r>
            <a:endParaRPr sz="1200" b="0" i="0">
              <a:solidFill>
                <a:srgbClr val="3a3a3a"/>
              </a:solidFill>
              <a:latin typeface="나눔고딕"/>
              <a:ea typeface="나눔고딕"/>
            </a:endParaRPr>
          </a:p>
          <a:p>
            <a:pPr lvl="0" algn="l">
              <a:lnSpc>
                <a:spcPct val="110000"/>
              </a:lnSpc>
              <a:spcBef>
                <a:spcPts val="300"/>
              </a:spcBef>
              <a:defRPr/>
            </a:pPr>
            <a:r>
              <a:rPr sz="1200" b="0" i="0">
                <a:solidFill>
                  <a:srgbClr val="3a3a3a"/>
                </a:solidFill>
                <a:latin typeface="나눔고딕"/>
                <a:ea typeface="나눔고딕"/>
              </a:rPr>
              <a:t>  ·  추후 iOS / Android 네이티브 앱 출시 예정</a:t>
            </a:r>
            <a:endParaRPr sz="1200" b="0" i="0">
              <a:solidFill>
                <a:srgbClr val="3a3a3a"/>
              </a:solidFill>
              <a:latin typeface="나눔고딕"/>
              <a:ea typeface="나눔고딕"/>
            </a:endParaRPr>
          </a:p>
        </p:txBody>
      </p:sp>
      <p:pic>
        <p:nvPicPr>
          <p:cNvPr id="7" name="Picture 6" descr="KakaoTalk_20260620_204355294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0" y="1260000"/>
            <a:ext cx="3240000" cy="324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52119" y="6498000"/>
            <a:ext cx="12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FFFFFF"/>
                </a:solidFill>
                <a:latin typeface="NanumMyeongjo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1522</ep:Words>
  <ep:PresentationFormat>On-screen Show (4:3)</ep:PresentationFormat>
  <ep:Paragraphs>394</ep:Paragraphs>
  <ep:Slides>13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tldhs</cp:lastModifiedBy>
  <dcterms:modified xsi:type="dcterms:W3CDTF">2026-06-22T07:38:06.825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